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74" r:id="rId3"/>
    <p:sldId id="260" r:id="rId4"/>
    <p:sldId id="261" r:id="rId5"/>
    <p:sldId id="262" r:id="rId6"/>
    <p:sldId id="264" r:id="rId7"/>
    <p:sldId id="265" r:id="rId8"/>
    <p:sldId id="266" r:id="rId9"/>
    <p:sldId id="267" r:id="rId10"/>
    <p:sldId id="268" r:id="rId11"/>
    <p:sldId id="278" r:id="rId12"/>
    <p:sldId id="269" r:id="rId13"/>
    <p:sldId id="270" r:id="rId14"/>
    <p:sldId id="271" r:id="rId15"/>
    <p:sldId id="275" r:id="rId16"/>
    <p:sldId id="276" r:id="rId17"/>
    <p:sldId id="272" r:id="rId18"/>
    <p:sldId id="273" r:id="rId19"/>
    <p:sldId id="277" r:id="rId2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301" y="31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1045463" y="283463"/>
            <a:ext cx="10101072" cy="1200005"/>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7575" y="1730872"/>
            <a:ext cx="8149590" cy="3088004"/>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505148" y="6451049"/>
            <a:ext cx="64452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a:xfrm>
            <a:off x="917575" y="6451049"/>
            <a:ext cx="73723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a:xfrm>
            <a:off x="11104626" y="6451049"/>
            <a:ext cx="2159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ieeexplore.ieee.org/xpl/RecentIssue.jsp?punumber=6287639" TargetMode="External"/><Relationship Id="rId2" Type="http://schemas.openxmlformats.org/officeDocument/2006/relationships/hyperlink" Target="https://ieeexplore.ieee.org/xpl/RecentIssue.jsp?punumber=4609443" TargetMode="External"/><Relationship Id="rId1" Type="http://schemas.openxmlformats.org/officeDocument/2006/relationships/slideLayout" Target="../slideLayouts/slideLayout2.xml"/><Relationship Id="rId5" Type="http://schemas.openxmlformats.org/officeDocument/2006/relationships/hyperlink" Target="https://ieeexplore.ieee.org/xpl/tocresult.jsp?isnumber=10066212&amp;punumber=5971804" TargetMode="External"/><Relationship Id="rId4" Type="http://schemas.openxmlformats.org/officeDocument/2006/relationships/hyperlink" Target="https://ieeexplore.ieee.org/xpl/RecentIssue.jsp?punumber=597180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abs/2201.12086" TargetMode="External"/><Relationship Id="rId2" Type="http://schemas.openxmlformats.org/officeDocument/2006/relationships/hyperlink" Target="https://arxiv.org/abs/2306.14824"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tylin/coco-capti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45463" y="283463"/>
            <a:ext cx="10101072" cy="759677"/>
          </a:xfrm>
          <a:prstGeom prst="rect">
            <a:avLst/>
          </a:prstGeom>
        </p:spPr>
        <p:txBody>
          <a:bodyPr vert="horz" wrap="square" lIns="0" tIns="478010" rIns="0" bIns="0" rtlCol="0">
            <a:spAutoFit/>
          </a:bodyPr>
          <a:lstStyle/>
          <a:p>
            <a:pPr marL="248285" algn="ctr">
              <a:lnSpc>
                <a:spcPct val="100000"/>
              </a:lnSpc>
              <a:spcBef>
                <a:spcPts val="509"/>
              </a:spcBef>
            </a:pPr>
            <a:r>
              <a:rPr sz="1800" dirty="0"/>
              <a:t>Department</a:t>
            </a:r>
            <a:r>
              <a:rPr sz="1800" spc="-20" dirty="0"/>
              <a:t> </a:t>
            </a:r>
            <a:r>
              <a:rPr sz="1800" dirty="0"/>
              <a:t>of</a:t>
            </a:r>
            <a:r>
              <a:rPr sz="1800" spc="-5" dirty="0"/>
              <a:t> </a:t>
            </a:r>
            <a:r>
              <a:rPr sz="1800" dirty="0"/>
              <a:t>Computer</a:t>
            </a:r>
            <a:r>
              <a:rPr sz="1800" spc="-60" dirty="0"/>
              <a:t> </a:t>
            </a:r>
            <a:r>
              <a:rPr sz="1800" dirty="0"/>
              <a:t>Science</a:t>
            </a:r>
            <a:r>
              <a:rPr sz="1800" spc="15" dirty="0"/>
              <a:t> </a:t>
            </a:r>
            <a:r>
              <a:rPr sz="1800" dirty="0"/>
              <a:t>and</a:t>
            </a:r>
            <a:r>
              <a:rPr sz="1800" spc="40" dirty="0"/>
              <a:t> </a:t>
            </a:r>
            <a:r>
              <a:rPr sz="1800" spc="-10" dirty="0"/>
              <a:t>Engineering</a:t>
            </a:r>
            <a:endParaRPr sz="1800" dirty="0"/>
          </a:p>
        </p:txBody>
      </p:sp>
      <p:sp>
        <p:nvSpPr>
          <p:cNvPr id="4" name="object 4"/>
          <p:cNvSpPr txBox="1"/>
          <p:nvPr/>
        </p:nvSpPr>
        <p:spPr>
          <a:xfrm>
            <a:off x="5460364" y="2324245"/>
            <a:ext cx="1503045" cy="505908"/>
          </a:xfrm>
          <a:prstGeom prst="rect">
            <a:avLst/>
          </a:prstGeom>
        </p:spPr>
        <p:txBody>
          <a:bodyPr vert="horz" wrap="square" lIns="0" tIns="15875" rIns="0" bIns="0" rtlCol="0">
            <a:spAutoFit/>
          </a:bodyPr>
          <a:lstStyle/>
          <a:p>
            <a:pPr marL="12700">
              <a:lnSpc>
                <a:spcPct val="100000"/>
              </a:lnSpc>
              <a:spcBef>
                <a:spcPts val="125"/>
              </a:spcBef>
            </a:pPr>
            <a:r>
              <a:rPr sz="1550" dirty="0">
                <a:latin typeface="Times New Roman"/>
                <a:cs typeface="Times New Roman"/>
              </a:rPr>
              <a:t>PRESENTED</a:t>
            </a:r>
            <a:r>
              <a:rPr sz="1550" spc="175" dirty="0">
                <a:latin typeface="Times New Roman"/>
                <a:cs typeface="Times New Roman"/>
              </a:rPr>
              <a:t> </a:t>
            </a:r>
            <a:r>
              <a:rPr sz="1550" spc="-25" dirty="0">
                <a:latin typeface="Times New Roman"/>
                <a:cs typeface="Times New Roman"/>
              </a:rPr>
              <a:t>BY</a:t>
            </a:r>
            <a:endParaRPr lang="en-IN" sz="1550" spc="-25" dirty="0">
              <a:latin typeface="Times New Roman"/>
              <a:cs typeface="Times New Roman"/>
            </a:endParaRPr>
          </a:p>
          <a:p>
            <a:pPr marL="12700">
              <a:lnSpc>
                <a:spcPct val="100000"/>
              </a:lnSpc>
              <a:spcBef>
                <a:spcPts val="125"/>
              </a:spcBef>
            </a:pPr>
            <a:endParaRPr sz="1550" dirty="0">
              <a:latin typeface="Times New Roman"/>
              <a:cs typeface="Times New Roman"/>
            </a:endParaRPr>
          </a:p>
        </p:txBody>
      </p:sp>
      <p:sp>
        <p:nvSpPr>
          <p:cNvPr id="7" name="object 7"/>
          <p:cNvSpPr txBox="1"/>
          <p:nvPr/>
        </p:nvSpPr>
        <p:spPr>
          <a:xfrm>
            <a:off x="4064634" y="3599878"/>
            <a:ext cx="4304665" cy="2249805"/>
          </a:xfrm>
          <a:prstGeom prst="rect">
            <a:avLst/>
          </a:prstGeom>
        </p:spPr>
        <p:txBody>
          <a:bodyPr vert="horz" wrap="square" lIns="0" tIns="12700" rIns="0" bIns="0" rtlCol="0">
            <a:spAutoFit/>
          </a:bodyPr>
          <a:lstStyle/>
          <a:p>
            <a:pPr algn="ctr">
              <a:lnSpc>
                <a:spcPct val="100000"/>
              </a:lnSpc>
              <a:spcBef>
                <a:spcPts val="100"/>
              </a:spcBef>
            </a:pPr>
            <a:r>
              <a:rPr sz="1800" dirty="0">
                <a:solidFill>
                  <a:srgbClr val="006600"/>
                </a:solidFill>
                <a:latin typeface="Times New Roman"/>
                <a:cs typeface="Times New Roman"/>
              </a:rPr>
              <a:t>Under</a:t>
            </a:r>
            <a:r>
              <a:rPr sz="1800" spc="20" dirty="0">
                <a:solidFill>
                  <a:srgbClr val="006600"/>
                </a:solidFill>
                <a:latin typeface="Times New Roman"/>
                <a:cs typeface="Times New Roman"/>
              </a:rPr>
              <a:t> </a:t>
            </a:r>
            <a:r>
              <a:rPr sz="1800" dirty="0">
                <a:solidFill>
                  <a:srgbClr val="006600"/>
                </a:solidFill>
                <a:latin typeface="Times New Roman"/>
                <a:cs typeface="Times New Roman"/>
              </a:rPr>
              <a:t>the</a:t>
            </a:r>
            <a:r>
              <a:rPr sz="1800" spc="-30" dirty="0">
                <a:solidFill>
                  <a:srgbClr val="006600"/>
                </a:solidFill>
                <a:latin typeface="Times New Roman"/>
                <a:cs typeface="Times New Roman"/>
              </a:rPr>
              <a:t> </a:t>
            </a:r>
            <a:r>
              <a:rPr sz="1800" dirty="0">
                <a:solidFill>
                  <a:srgbClr val="006600"/>
                </a:solidFill>
                <a:latin typeface="Times New Roman"/>
                <a:cs typeface="Times New Roman"/>
              </a:rPr>
              <a:t>Guidance</a:t>
            </a:r>
            <a:r>
              <a:rPr sz="1800" spc="-25" dirty="0">
                <a:solidFill>
                  <a:srgbClr val="006600"/>
                </a:solidFill>
                <a:latin typeface="Times New Roman"/>
                <a:cs typeface="Times New Roman"/>
              </a:rPr>
              <a:t> of,</a:t>
            </a:r>
            <a:endParaRPr sz="1800" dirty="0">
              <a:latin typeface="Times New Roman"/>
              <a:cs typeface="Times New Roman"/>
            </a:endParaRPr>
          </a:p>
          <a:p>
            <a:pPr algn="ctr">
              <a:lnSpc>
                <a:spcPct val="100000"/>
              </a:lnSpc>
              <a:spcBef>
                <a:spcPts val="1770"/>
              </a:spcBef>
            </a:pPr>
            <a:r>
              <a:rPr lang="en-IN" sz="1550" b="1" dirty="0">
                <a:latin typeface="Times New Roman"/>
                <a:cs typeface="Times New Roman"/>
              </a:rPr>
              <a:t>K. RAJANI </a:t>
            </a:r>
            <a:r>
              <a:rPr lang="en-IN" sz="1575" b="1" spc="-15" baseline="-15873" dirty="0">
                <a:latin typeface="Times New Roman"/>
                <a:cs typeface="Times New Roman"/>
              </a:rPr>
              <a:t>B Tech, M Tech</a:t>
            </a:r>
            <a:r>
              <a:rPr sz="1550" b="1" spc="-10" dirty="0">
                <a:latin typeface="Times New Roman"/>
                <a:cs typeface="Times New Roman"/>
              </a:rPr>
              <a:t>,</a:t>
            </a:r>
            <a:r>
              <a:rPr lang="en-IN" sz="1550" b="1" spc="-10" dirty="0">
                <a:latin typeface="Times New Roman"/>
                <a:cs typeface="Times New Roman"/>
              </a:rPr>
              <a:t> </a:t>
            </a:r>
            <a:endParaRPr sz="1550" dirty="0">
              <a:latin typeface="Times New Roman"/>
              <a:cs typeface="Times New Roman"/>
            </a:endParaRPr>
          </a:p>
          <a:p>
            <a:pPr algn="ctr">
              <a:lnSpc>
                <a:spcPct val="100000"/>
              </a:lnSpc>
              <a:spcBef>
                <a:spcPts val="470"/>
              </a:spcBef>
            </a:pPr>
            <a:r>
              <a:rPr sz="1550" spc="-10" dirty="0">
                <a:solidFill>
                  <a:srgbClr val="888888"/>
                </a:solidFill>
                <a:latin typeface="Times New Roman"/>
                <a:cs typeface="Times New Roman"/>
              </a:rPr>
              <a:t>Designation,</a:t>
            </a:r>
            <a:endParaRPr sz="1550" dirty="0">
              <a:latin typeface="Times New Roman"/>
              <a:cs typeface="Times New Roman"/>
            </a:endParaRPr>
          </a:p>
          <a:p>
            <a:pPr algn="ctr">
              <a:lnSpc>
                <a:spcPct val="100000"/>
              </a:lnSpc>
              <a:spcBef>
                <a:spcPts val="995"/>
              </a:spcBef>
            </a:pPr>
            <a:r>
              <a:rPr sz="1550" dirty="0">
                <a:solidFill>
                  <a:srgbClr val="888888"/>
                </a:solidFill>
                <a:latin typeface="Times New Roman"/>
                <a:cs typeface="Times New Roman"/>
              </a:rPr>
              <a:t>Department</a:t>
            </a:r>
            <a:r>
              <a:rPr sz="1550" spc="90" dirty="0">
                <a:solidFill>
                  <a:srgbClr val="888888"/>
                </a:solidFill>
                <a:latin typeface="Times New Roman"/>
                <a:cs typeface="Times New Roman"/>
              </a:rPr>
              <a:t> </a:t>
            </a:r>
            <a:r>
              <a:rPr sz="1550" dirty="0">
                <a:solidFill>
                  <a:srgbClr val="888888"/>
                </a:solidFill>
                <a:latin typeface="Times New Roman"/>
                <a:cs typeface="Times New Roman"/>
              </a:rPr>
              <a:t>of</a:t>
            </a:r>
            <a:r>
              <a:rPr sz="1550" spc="180" dirty="0">
                <a:solidFill>
                  <a:srgbClr val="888888"/>
                </a:solidFill>
                <a:latin typeface="Times New Roman"/>
                <a:cs typeface="Times New Roman"/>
              </a:rPr>
              <a:t> </a:t>
            </a:r>
            <a:r>
              <a:rPr sz="1550" dirty="0">
                <a:solidFill>
                  <a:srgbClr val="888888"/>
                </a:solidFill>
                <a:latin typeface="Times New Roman"/>
                <a:cs typeface="Times New Roman"/>
              </a:rPr>
              <a:t>Computer</a:t>
            </a:r>
            <a:r>
              <a:rPr sz="1550" spc="80" dirty="0">
                <a:solidFill>
                  <a:srgbClr val="888888"/>
                </a:solidFill>
                <a:latin typeface="Times New Roman"/>
                <a:cs typeface="Times New Roman"/>
              </a:rPr>
              <a:t> </a:t>
            </a:r>
            <a:r>
              <a:rPr sz="1550" dirty="0">
                <a:solidFill>
                  <a:srgbClr val="888888"/>
                </a:solidFill>
                <a:latin typeface="Times New Roman"/>
                <a:cs typeface="Times New Roman"/>
              </a:rPr>
              <a:t>Science</a:t>
            </a:r>
            <a:r>
              <a:rPr sz="1550" spc="145" dirty="0">
                <a:solidFill>
                  <a:srgbClr val="888888"/>
                </a:solidFill>
                <a:latin typeface="Times New Roman"/>
                <a:cs typeface="Times New Roman"/>
              </a:rPr>
              <a:t> </a:t>
            </a:r>
            <a:r>
              <a:rPr sz="1550" dirty="0">
                <a:solidFill>
                  <a:srgbClr val="888888"/>
                </a:solidFill>
                <a:latin typeface="Times New Roman"/>
                <a:cs typeface="Times New Roman"/>
              </a:rPr>
              <a:t>and</a:t>
            </a:r>
            <a:r>
              <a:rPr sz="1550" spc="135" dirty="0">
                <a:solidFill>
                  <a:srgbClr val="888888"/>
                </a:solidFill>
                <a:latin typeface="Times New Roman"/>
                <a:cs typeface="Times New Roman"/>
              </a:rPr>
              <a:t> </a:t>
            </a:r>
            <a:r>
              <a:rPr sz="1550" spc="-10" dirty="0">
                <a:solidFill>
                  <a:srgbClr val="888888"/>
                </a:solidFill>
                <a:latin typeface="Times New Roman"/>
                <a:cs typeface="Times New Roman"/>
              </a:rPr>
              <a:t>Engineering,</a:t>
            </a:r>
            <a:endParaRPr sz="1550" dirty="0">
              <a:latin typeface="Times New Roman"/>
              <a:cs typeface="Times New Roman"/>
            </a:endParaRPr>
          </a:p>
          <a:p>
            <a:pPr marL="57785" marR="61594" algn="ctr">
              <a:lnSpc>
                <a:spcPct val="173700"/>
              </a:lnSpc>
              <a:spcBef>
                <a:spcPts val="70"/>
              </a:spcBef>
            </a:pPr>
            <a:r>
              <a:rPr sz="1550" dirty="0">
                <a:solidFill>
                  <a:srgbClr val="888888"/>
                </a:solidFill>
                <a:latin typeface="Times New Roman"/>
                <a:cs typeface="Times New Roman"/>
              </a:rPr>
              <a:t>Narasaraopeta</a:t>
            </a:r>
            <a:r>
              <a:rPr sz="1550" spc="200" dirty="0">
                <a:solidFill>
                  <a:srgbClr val="888888"/>
                </a:solidFill>
                <a:latin typeface="Times New Roman"/>
                <a:cs typeface="Times New Roman"/>
              </a:rPr>
              <a:t> </a:t>
            </a:r>
            <a:r>
              <a:rPr sz="1550" dirty="0">
                <a:solidFill>
                  <a:srgbClr val="888888"/>
                </a:solidFill>
                <a:latin typeface="Times New Roman"/>
                <a:cs typeface="Times New Roman"/>
              </a:rPr>
              <a:t>Engineering</a:t>
            </a:r>
            <a:r>
              <a:rPr sz="1550" spc="185" dirty="0">
                <a:solidFill>
                  <a:srgbClr val="888888"/>
                </a:solidFill>
                <a:latin typeface="Times New Roman"/>
                <a:cs typeface="Times New Roman"/>
              </a:rPr>
              <a:t> </a:t>
            </a:r>
            <a:r>
              <a:rPr sz="1550" dirty="0">
                <a:solidFill>
                  <a:srgbClr val="888888"/>
                </a:solidFill>
                <a:latin typeface="Times New Roman"/>
                <a:cs typeface="Times New Roman"/>
              </a:rPr>
              <a:t>College</a:t>
            </a:r>
            <a:r>
              <a:rPr sz="1550" spc="204" dirty="0">
                <a:solidFill>
                  <a:srgbClr val="888888"/>
                </a:solidFill>
                <a:latin typeface="Times New Roman"/>
                <a:cs typeface="Times New Roman"/>
              </a:rPr>
              <a:t> </a:t>
            </a:r>
            <a:r>
              <a:rPr sz="1550" spc="-10" dirty="0">
                <a:solidFill>
                  <a:srgbClr val="888888"/>
                </a:solidFill>
                <a:latin typeface="Times New Roman"/>
                <a:cs typeface="Times New Roman"/>
              </a:rPr>
              <a:t>(Autonomous), </a:t>
            </a:r>
            <a:r>
              <a:rPr sz="1550" dirty="0">
                <a:solidFill>
                  <a:srgbClr val="888888"/>
                </a:solidFill>
                <a:latin typeface="Times New Roman"/>
                <a:cs typeface="Times New Roman"/>
              </a:rPr>
              <a:t>Narasaraopet-</a:t>
            </a:r>
            <a:r>
              <a:rPr sz="1550" spc="150" dirty="0">
                <a:solidFill>
                  <a:srgbClr val="888888"/>
                </a:solidFill>
                <a:latin typeface="Times New Roman"/>
                <a:cs typeface="Times New Roman"/>
              </a:rPr>
              <a:t> </a:t>
            </a:r>
            <a:r>
              <a:rPr sz="1550" dirty="0">
                <a:solidFill>
                  <a:srgbClr val="888888"/>
                </a:solidFill>
                <a:latin typeface="Times New Roman"/>
                <a:cs typeface="Times New Roman"/>
              </a:rPr>
              <a:t>522</a:t>
            </a:r>
            <a:r>
              <a:rPr sz="1550" spc="150" dirty="0">
                <a:solidFill>
                  <a:srgbClr val="888888"/>
                </a:solidFill>
                <a:latin typeface="Times New Roman"/>
                <a:cs typeface="Times New Roman"/>
              </a:rPr>
              <a:t> </a:t>
            </a:r>
            <a:r>
              <a:rPr sz="1550" spc="-20" dirty="0">
                <a:solidFill>
                  <a:srgbClr val="888888"/>
                </a:solidFill>
                <a:latin typeface="Times New Roman"/>
                <a:cs typeface="Times New Roman"/>
              </a:rPr>
              <a:t>601.</a:t>
            </a:r>
            <a:endParaRPr sz="1550" dirty="0">
              <a:latin typeface="Times New Roman"/>
              <a:cs typeface="Times New Roman"/>
            </a:endParaRPr>
          </a:p>
        </p:txBody>
      </p:sp>
      <p:pic>
        <p:nvPicPr>
          <p:cNvPr id="8" name="object 8"/>
          <p:cNvPicPr/>
          <p:nvPr/>
        </p:nvPicPr>
        <p:blipFill>
          <a:blip r:embed="rId2" cstate="print"/>
          <a:stretch>
            <a:fillRect/>
          </a:stretch>
        </p:blipFill>
        <p:spPr>
          <a:xfrm>
            <a:off x="304800" y="157582"/>
            <a:ext cx="3648074" cy="505326"/>
          </a:xfrm>
          <a:prstGeom prst="rect">
            <a:avLst/>
          </a:prstGeom>
        </p:spPr>
      </p:pic>
      <p:sp>
        <p:nvSpPr>
          <p:cNvPr id="9" name="object 9"/>
          <p:cNvSpPr txBox="1">
            <a:spLocks noGrp="1"/>
          </p:cNvSpPr>
          <p:nvPr>
            <p:ph type="dt" sz="half" idx="6"/>
          </p:nvPr>
        </p:nvSpPr>
        <p:spPr>
          <a:xfrm>
            <a:off x="917575" y="6451049"/>
            <a:ext cx="91122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10" name="object 10"/>
          <p:cNvSpPr txBox="1"/>
          <p:nvPr/>
        </p:nvSpPr>
        <p:spPr>
          <a:xfrm>
            <a:off x="4267200" y="6451049"/>
            <a:ext cx="911225"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lang="en-IN" sz="120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11" name="object 11"/>
          <p:cNvSpPr txBox="1">
            <a:spLocks noGrp="1"/>
          </p:cNvSpPr>
          <p:nvPr>
            <p:ph type="ftr" sz="quarter" idx="5"/>
          </p:nvPr>
        </p:nvSpPr>
        <p:spPr>
          <a:xfrm>
            <a:off x="5505148" y="6451049"/>
            <a:ext cx="1048052" cy="179536"/>
          </a:xfrm>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r>
              <a:rPr lang="en-IN" spc="-25" dirty="0"/>
              <a:t> DB13</a:t>
            </a:r>
            <a:endParaRPr spc="-25" dirty="0"/>
          </a:p>
        </p:txBody>
      </p:sp>
      <p:sp>
        <p:nvSpPr>
          <p:cNvPr id="12" name="object 12"/>
          <p:cNvSpPr txBox="1"/>
          <p:nvPr/>
        </p:nvSpPr>
        <p:spPr>
          <a:xfrm>
            <a:off x="7005320"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a:t>
            </a:fld>
            <a:endParaRPr spc="-25" dirty="0"/>
          </a:p>
        </p:txBody>
      </p:sp>
      <p:sp>
        <p:nvSpPr>
          <p:cNvPr id="14" name="TextBox 13">
            <a:extLst>
              <a:ext uri="{FF2B5EF4-FFF2-40B4-BE49-F238E27FC236}">
                <a16:creationId xmlns:a16="http://schemas.microsoft.com/office/drawing/2014/main" id="{892E6DE5-587C-B117-9409-336AACCB4F21}"/>
              </a:ext>
            </a:extLst>
          </p:cNvPr>
          <p:cNvSpPr txBox="1"/>
          <p:nvPr/>
        </p:nvSpPr>
        <p:spPr>
          <a:xfrm>
            <a:off x="917575" y="1143000"/>
            <a:ext cx="10588625" cy="954107"/>
          </a:xfrm>
          <a:prstGeom prst="rect">
            <a:avLst/>
          </a:prstGeom>
          <a:noFill/>
        </p:spPr>
        <p:txBody>
          <a:bodyPr wrap="square" rtlCol="0">
            <a:spAutoFit/>
          </a:bodyPr>
          <a:lstStyle/>
          <a:p>
            <a:pPr algn="ctr" rtl="0" eaLnBrk="1" fontAlgn="base" hangingPunct="1"/>
            <a:r>
              <a:rPr lang="en-US" sz="2800" dirty="0">
                <a:solidFill>
                  <a:srgbClr val="FF0000"/>
                </a:solidFill>
              </a:rPr>
              <a:t>Ensemble Captioning of Images via Voting-Based Fusion Strategies</a:t>
            </a:r>
            <a:endParaRPr lang="en-IN" sz="2800" dirty="0">
              <a:solidFill>
                <a:srgbClr val="FF0000"/>
              </a:solidFill>
              <a:effectLst/>
            </a:endParaRPr>
          </a:p>
        </p:txBody>
      </p:sp>
      <p:sp>
        <p:nvSpPr>
          <p:cNvPr id="2" name="TextBox 1">
            <a:extLst>
              <a:ext uri="{FF2B5EF4-FFF2-40B4-BE49-F238E27FC236}">
                <a16:creationId xmlns:a16="http://schemas.microsoft.com/office/drawing/2014/main" id="{22A8C1BB-BAA4-D2C3-0045-7541F40C93B2}"/>
              </a:ext>
            </a:extLst>
          </p:cNvPr>
          <p:cNvSpPr txBox="1"/>
          <p:nvPr/>
        </p:nvSpPr>
        <p:spPr>
          <a:xfrm>
            <a:off x="4495800" y="2734468"/>
            <a:ext cx="4486022" cy="830997"/>
          </a:xfrm>
          <a:prstGeom prst="rect">
            <a:avLst/>
          </a:prstGeom>
          <a:noFill/>
        </p:spPr>
        <p:txBody>
          <a:bodyPr wrap="square" rtlCol="0">
            <a:spAutoFit/>
          </a:bodyPr>
          <a:lstStyle/>
          <a:p>
            <a:r>
              <a:rPr lang="en-US" sz="1600" dirty="0"/>
              <a:t>Sk. Shajahan	(23475A0519)</a:t>
            </a:r>
          </a:p>
          <a:p>
            <a:r>
              <a:rPr lang="en-US" sz="1600" dirty="0" err="1"/>
              <a:t>J.Surya</a:t>
            </a:r>
            <a:r>
              <a:rPr lang="en-US" sz="1600" dirty="0"/>
              <a:t> Teja 	(22471A05M6)</a:t>
            </a:r>
            <a:endParaRPr lang="en-IN" sz="1600" dirty="0"/>
          </a:p>
          <a:p>
            <a:r>
              <a:rPr lang="en-US" sz="1600" dirty="0"/>
              <a:t>N. V.  C Sudheer 	(23475A0522)</a:t>
            </a:r>
            <a:endParaRPr lang="en-IN"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6138B6D-73A2-DED2-3C0C-03F11D0D8CF0}"/>
            </a:ext>
          </a:extLst>
        </p:cNvPr>
        <p:cNvGrpSpPr/>
        <p:nvPr/>
      </p:nvGrpSpPr>
      <p:grpSpPr>
        <a:xfrm>
          <a:off x="0" y="0"/>
          <a:ext cx="0" cy="0"/>
          <a:chOff x="0" y="0"/>
          <a:chExt cx="0" cy="0"/>
        </a:xfrm>
      </p:grpSpPr>
      <p:pic>
        <p:nvPicPr>
          <p:cNvPr id="8" name="object 8">
            <a:extLst>
              <a:ext uri="{FF2B5EF4-FFF2-40B4-BE49-F238E27FC236}">
                <a16:creationId xmlns:a16="http://schemas.microsoft.com/office/drawing/2014/main" id="{6C6F0911-126B-6ED7-4451-1BC79C89222D}"/>
              </a:ext>
            </a:extLst>
          </p:cNvPr>
          <p:cNvPicPr/>
          <p:nvPr/>
        </p:nvPicPr>
        <p:blipFill>
          <a:blip r:embed="rId2" cstate="print"/>
          <a:stretch>
            <a:fillRect/>
          </a:stretch>
        </p:blipFill>
        <p:spPr>
          <a:xfrm>
            <a:off x="66675" y="131344"/>
            <a:ext cx="3648074" cy="505326"/>
          </a:xfrm>
          <a:prstGeom prst="rect">
            <a:avLst/>
          </a:prstGeom>
        </p:spPr>
      </p:pic>
      <p:sp>
        <p:nvSpPr>
          <p:cNvPr id="9" name="object 9">
            <a:extLst>
              <a:ext uri="{FF2B5EF4-FFF2-40B4-BE49-F238E27FC236}">
                <a16:creationId xmlns:a16="http://schemas.microsoft.com/office/drawing/2014/main" id="{1DEA04A4-DD81-E175-683F-5DB65E94C4A5}"/>
              </a:ext>
            </a:extLst>
          </p:cNvPr>
          <p:cNvSpPr txBox="1">
            <a:spLocks noGrp="1"/>
          </p:cNvSpPr>
          <p:nvPr>
            <p:ph type="dt" sz="half" idx="6"/>
          </p:nvPr>
        </p:nvSpPr>
        <p:spPr>
          <a:xfrm>
            <a:off x="917575" y="6451049"/>
            <a:ext cx="91122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10" name="object 10">
            <a:extLst>
              <a:ext uri="{FF2B5EF4-FFF2-40B4-BE49-F238E27FC236}">
                <a16:creationId xmlns:a16="http://schemas.microsoft.com/office/drawing/2014/main" id="{530AF66E-84EC-FFB4-2BFE-922AF398A284}"/>
              </a:ext>
            </a:extLst>
          </p:cNvPr>
          <p:cNvSpPr txBox="1"/>
          <p:nvPr/>
        </p:nvSpPr>
        <p:spPr>
          <a:xfrm>
            <a:off x="4267200" y="6451049"/>
            <a:ext cx="911225"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lang="en-IN" sz="120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11" name="object 11">
            <a:extLst>
              <a:ext uri="{FF2B5EF4-FFF2-40B4-BE49-F238E27FC236}">
                <a16:creationId xmlns:a16="http://schemas.microsoft.com/office/drawing/2014/main" id="{E9B159F2-EE6B-8576-40DD-19628FCDE5E7}"/>
              </a:ext>
            </a:extLst>
          </p:cNvPr>
          <p:cNvSpPr txBox="1">
            <a:spLocks noGrp="1"/>
          </p:cNvSpPr>
          <p:nvPr>
            <p:ph type="ftr" sz="quarter" idx="5"/>
          </p:nvPr>
        </p:nvSpPr>
        <p:spPr>
          <a:xfrm>
            <a:off x="5505148" y="6451049"/>
            <a:ext cx="1048052" cy="179536"/>
          </a:xfrm>
          <a:prstGeom prst="rect">
            <a:avLst/>
          </a:prstGeom>
        </p:spPr>
        <p:txBody>
          <a:bodyPr vert="horz" wrap="square" lIns="0" tIns="0" rIns="0" bIns="0" rtlCol="0">
            <a:spAutoFit/>
          </a:bodyPr>
          <a:lstStyle/>
          <a:p>
            <a:pPr marL="12700">
              <a:lnSpc>
                <a:spcPts val="1410"/>
              </a:lnSpc>
            </a:pPr>
            <a:r>
              <a:rPr lang="en-IN" dirty="0"/>
              <a:t>Batch No. DB13</a:t>
            </a:r>
            <a:endParaRPr spc="-25" dirty="0"/>
          </a:p>
        </p:txBody>
      </p:sp>
      <p:sp>
        <p:nvSpPr>
          <p:cNvPr id="12" name="object 12">
            <a:extLst>
              <a:ext uri="{FF2B5EF4-FFF2-40B4-BE49-F238E27FC236}">
                <a16:creationId xmlns:a16="http://schemas.microsoft.com/office/drawing/2014/main" id="{231EB93B-3C65-2A53-DCF1-955B77AA7FAE}"/>
              </a:ext>
            </a:extLst>
          </p:cNvPr>
          <p:cNvSpPr txBox="1"/>
          <p:nvPr/>
        </p:nvSpPr>
        <p:spPr>
          <a:xfrm>
            <a:off x="7005320"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13" name="object 13">
            <a:extLst>
              <a:ext uri="{FF2B5EF4-FFF2-40B4-BE49-F238E27FC236}">
                <a16:creationId xmlns:a16="http://schemas.microsoft.com/office/drawing/2014/main" id="{FAC81CF9-B497-C37F-5C28-EF904D53BEE8}"/>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a:t>
            </a:fld>
            <a:endParaRPr spc="-25" dirty="0"/>
          </a:p>
        </p:txBody>
      </p:sp>
      <p:sp>
        <p:nvSpPr>
          <p:cNvPr id="15" name="object 2"/>
          <p:cNvSpPr txBox="1">
            <a:spLocks noGrp="1"/>
          </p:cNvSpPr>
          <p:nvPr>
            <p:ph type="title"/>
          </p:nvPr>
        </p:nvSpPr>
        <p:spPr>
          <a:xfrm>
            <a:off x="917575" y="685800"/>
            <a:ext cx="10099675" cy="1619673"/>
          </a:xfrm>
          <a:prstGeom prst="rect">
            <a:avLst/>
          </a:prstGeom>
        </p:spPr>
        <p:txBody>
          <a:bodyPr vert="horz" wrap="square" lIns="0" tIns="262889" rIns="0" bIns="0" rtlCol="0">
            <a:spAutoFit/>
          </a:bodyPr>
          <a:lstStyle/>
          <a:p>
            <a:pPr marL="3703320">
              <a:lnSpc>
                <a:spcPct val="100000"/>
              </a:lnSpc>
              <a:spcBef>
                <a:spcPts val="130"/>
              </a:spcBef>
            </a:pPr>
            <a:r>
              <a:rPr spc="-10" dirty="0"/>
              <a:t>ABSTRACT</a:t>
            </a:r>
            <a:br>
              <a:rPr lang="en-IN" spc="-10" dirty="0"/>
            </a:br>
            <a:endParaRPr spc="-10" dirty="0"/>
          </a:p>
        </p:txBody>
      </p:sp>
      <p:sp>
        <p:nvSpPr>
          <p:cNvPr id="16" name="TextBox 15">
            <a:extLst>
              <a:ext uri="{FF2B5EF4-FFF2-40B4-BE49-F238E27FC236}">
                <a16:creationId xmlns:a16="http://schemas.microsoft.com/office/drawing/2014/main" id="{86FE9E84-97F6-FEC9-6E80-BC0ADD56D5CD}"/>
              </a:ext>
            </a:extLst>
          </p:cNvPr>
          <p:cNvSpPr txBox="1"/>
          <p:nvPr/>
        </p:nvSpPr>
        <p:spPr>
          <a:xfrm>
            <a:off x="1518324" y="1981200"/>
            <a:ext cx="9021699" cy="3780522"/>
          </a:xfrm>
          <a:prstGeom prst="rect">
            <a:avLst/>
          </a:prstGeom>
          <a:noFill/>
        </p:spPr>
        <p:txBody>
          <a:bodyPr wrap="square" rtlCol="0">
            <a:spAutoFit/>
          </a:bodyPr>
          <a:lstStyle/>
          <a:p>
            <a:pPr>
              <a:lnSpc>
                <a:spcPct val="150000"/>
              </a:lnSpc>
            </a:pPr>
            <a:r>
              <a:rPr lang="en-US" dirty="0"/>
              <a:t>Satellite-based imagery presents significant challenges for automatic caption generation due to its complex visual content and varying spatial contexts. To address these issues, a modular captioning pipeline is proposed that integrates the Kosmos-2 and BLIP-base models. The system employs a voting-based fusion mechanism to select the most representative and contextually accurate caption. This approach demonstrates improved performance in both accuracy and semantic quality when evaluated on the RSICD dataset. The evaluation process utilizes several standard metrics, including BLEU, METEOR, ROUGE-L, </a:t>
            </a:r>
            <a:r>
              <a:rPr lang="en-US" dirty="0" err="1"/>
              <a:t>CIDEr</a:t>
            </a:r>
            <a:r>
              <a:rPr lang="en-US" dirty="0"/>
              <a:t>, and SPICE, to comprehensively assess the quality of the generated captions.</a:t>
            </a:r>
            <a:endParaRPr lang="en-IN" dirty="0"/>
          </a:p>
        </p:txBody>
      </p:sp>
    </p:spTree>
    <p:extLst>
      <p:ext uri="{BB962C8B-B14F-4D97-AF65-F5344CB8AC3E}">
        <p14:creationId xmlns:p14="http://schemas.microsoft.com/office/powerpoint/2010/main" val="3279035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89580">
              <a:lnSpc>
                <a:spcPct val="100000"/>
              </a:lnSpc>
              <a:spcBef>
                <a:spcPts val="130"/>
              </a:spcBef>
            </a:pPr>
            <a:r>
              <a:rPr spc="-10" dirty="0"/>
              <a:t>INTRODUCTION</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a:t>
            </a:r>
            <a:r>
              <a:rPr spc="-10" dirty="0"/>
              <a:t>-12-</a:t>
            </a:r>
            <a:r>
              <a:rPr spc="-20" dirty="0"/>
              <a:t>202</a:t>
            </a:r>
            <a:r>
              <a:rPr lang="en-IN" spc="-20" dirty="0"/>
              <a:t>5</a:t>
            </a:r>
            <a:endParaRPr spc="-20" dirty="0"/>
          </a:p>
        </p:txBody>
      </p:sp>
      <p:sp>
        <p:nvSpPr>
          <p:cNvPr id="5" name="object 5"/>
          <p:cNvSpPr txBox="1"/>
          <p:nvPr/>
        </p:nvSpPr>
        <p:spPr>
          <a:xfrm>
            <a:off x="4429378" y="6451049"/>
            <a:ext cx="828422"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6" name="object 6"/>
          <p:cNvSpPr txBox="1">
            <a:spLocks noGrp="1"/>
          </p:cNvSpPr>
          <p:nvPr>
            <p:ph type="ftr" sz="quarter" idx="5"/>
          </p:nvPr>
        </p:nvSpPr>
        <p:spPr>
          <a:xfrm>
            <a:off x="5505148" y="6451049"/>
            <a:ext cx="1037796" cy="179536"/>
          </a:xfrm>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r>
              <a:rPr lang="en-IN" spc="-25" dirty="0"/>
              <a:t>DB13</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a:t>
            </a:fld>
            <a:endParaRPr spc="-25" dirty="0"/>
          </a:p>
        </p:txBody>
      </p:sp>
      <p:sp>
        <p:nvSpPr>
          <p:cNvPr id="9" name="TextBox 8">
            <a:extLst>
              <a:ext uri="{FF2B5EF4-FFF2-40B4-BE49-F238E27FC236}">
                <a16:creationId xmlns:a16="http://schemas.microsoft.com/office/drawing/2014/main" id="{4DA82E80-CF24-5862-DE2F-BED2D755FF1E}"/>
              </a:ext>
            </a:extLst>
          </p:cNvPr>
          <p:cNvSpPr txBox="1"/>
          <p:nvPr/>
        </p:nvSpPr>
        <p:spPr>
          <a:xfrm>
            <a:off x="1371600" y="2057400"/>
            <a:ext cx="9656826" cy="3277820"/>
          </a:xfrm>
          <a:prstGeom prst="rect">
            <a:avLst/>
          </a:prstGeom>
          <a:noFill/>
        </p:spPr>
        <p:txBody>
          <a:bodyPr wrap="square" rtlCol="0">
            <a:spAutoFit/>
          </a:bodyPr>
          <a:lstStyle/>
          <a:p>
            <a:pPr marL="285750" indent="-285750">
              <a:lnSpc>
                <a:spcPct val="150000"/>
              </a:lnSpc>
              <a:buClrTx/>
              <a:buFont typeface="Arial" panose="020B0604020202020204" pitchFamily="34" charset="0"/>
              <a:buChar char="•"/>
            </a:pPr>
            <a:r>
              <a:rPr lang="en-US" dirty="0"/>
              <a:t>Remote sensing images are vital for analyzing land, environment, and urban areas.</a:t>
            </a:r>
          </a:p>
          <a:p>
            <a:pPr marL="285750" indent="-285750">
              <a:lnSpc>
                <a:spcPct val="150000"/>
              </a:lnSpc>
              <a:buClrTx/>
              <a:buFont typeface="Arial" panose="020B0604020202020204" pitchFamily="34" charset="0"/>
              <a:buChar char="•"/>
            </a:pPr>
            <a:r>
              <a:rPr lang="en-US" dirty="0"/>
              <a:t>Lack of visual cues like depth and perspective complicates captioning tasks</a:t>
            </a:r>
          </a:p>
          <a:p>
            <a:pPr marL="285750" indent="-285750">
              <a:lnSpc>
                <a:spcPct val="150000"/>
              </a:lnSpc>
              <a:buClrTx/>
              <a:buFont typeface="Arial" panose="020B0604020202020204" pitchFamily="34" charset="0"/>
              <a:buChar char="•"/>
            </a:pPr>
            <a:r>
              <a:rPr lang="en-IN" dirty="0"/>
              <a:t>Traditional encoder–decoder models fail to capture spatial semantics.</a:t>
            </a:r>
          </a:p>
          <a:p>
            <a:pPr marL="285750" indent="-285750">
              <a:lnSpc>
                <a:spcPct val="150000"/>
              </a:lnSpc>
              <a:buClrTx/>
              <a:buFont typeface="Arial" panose="020B0604020202020204" pitchFamily="34" charset="0"/>
              <a:buChar char="•"/>
            </a:pPr>
            <a:r>
              <a:rPr lang="en-US" dirty="0"/>
              <a:t>Ensemble methods enhance caption accuracy and semantic richness</a:t>
            </a:r>
            <a:r>
              <a:rPr lang="en-US" altLang="en-US" dirty="0">
                <a:latin typeface="Times New Roman" panose="02020603050405020304" pitchFamily="18" charset="0"/>
                <a:cs typeface="Times New Roman" panose="02020603050405020304" pitchFamily="18" charset="0"/>
              </a:rPr>
              <a:t>.</a:t>
            </a:r>
          </a:p>
          <a:p>
            <a:pPr marL="285750" indent="-285750">
              <a:lnSpc>
                <a:spcPct val="150000"/>
              </a:lnSpc>
              <a:buClrTx/>
              <a:buFont typeface="Arial" panose="020B0604020202020204" pitchFamily="34" charset="0"/>
              <a:buChar char="•"/>
            </a:pPr>
            <a:r>
              <a:rPr lang="en-US" dirty="0"/>
              <a:t>New vision-language models bridge visual and textual representations.</a:t>
            </a:r>
          </a:p>
          <a:p>
            <a:pPr marL="285750" indent="-285750">
              <a:lnSpc>
                <a:spcPct val="150000"/>
              </a:lnSpc>
              <a:buFont typeface="Arial" panose="020B0604020202020204" pitchFamily="34" charset="0"/>
              <a:buChar char="•"/>
            </a:pPr>
            <a:r>
              <a:rPr lang="en-US" dirty="0"/>
              <a:t>This research applies ensemble captioning for satellite image understanding.</a:t>
            </a:r>
          </a:p>
          <a:p>
            <a:pPr marL="285750" indent="-285750">
              <a:lnSpc>
                <a:spcPct val="150000"/>
              </a:lnSpc>
              <a:buClrTx/>
              <a:buFont typeface="Arial" panose="020B0604020202020204" pitchFamily="34" charset="0"/>
              <a:buChar char="•"/>
            </a:pPr>
            <a:endParaRPr lang="en-IN" altLang="en-US"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5200" y="329478"/>
            <a:ext cx="5544820" cy="632460"/>
          </a:xfrm>
          <a:prstGeom prst="rect">
            <a:avLst/>
          </a:prstGeom>
        </p:spPr>
        <p:txBody>
          <a:bodyPr vert="horz" wrap="square" lIns="0" tIns="16510" rIns="0" bIns="0" rtlCol="0">
            <a:spAutoFit/>
          </a:bodyPr>
          <a:lstStyle/>
          <a:p>
            <a:pPr marL="12700">
              <a:lnSpc>
                <a:spcPct val="100000"/>
              </a:lnSpc>
              <a:spcBef>
                <a:spcPts val="130"/>
              </a:spcBef>
            </a:pPr>
            <a:r>
              <a:rPr sz="3950" dirty="0"/>
              <a:t>LITERATURE</a:t>
            </a:r>
            <a:r>
              <a:rPr sz="3950" spc="-185" dirty="0"/>
              <a:t> </a:t>
            </a:r>
            <a:r>
              <a:rPr sz="3950" spc="-10" dirty="0"/>
              <a:t>SURVEY</a:t>
            </a:r>
            <a:endParaRPr sz="3950" dirty="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-12-</a:t>
            </a:r>
            <a:r>
              <a:rPr spc="-20" dirty="0"/>
              <a:t>202</a:t>
            </a:r>
            <a:r>
              <a:rPr lang="en-IN" spc="-20" dirty="0"/>
              <a:t>5</a:t>
            </a:r>
            <a:endParaRPr spc="-20" dirty="0"/>
          </a:p>
        </p:txBody>
      </p:sp>
      <p:sp>
        <p:nvSpPr>
          <p:cNvPr id="5" name="object 5"/>
          <p:cNvSpPr txBox="1"/>
          <p:nvPr/>
        </p:nvSpPr>
        <p:spPr>
          <a:xfrm>
            <a:off x="4429378" y="6451049"/>
            <a:ext cx="904622"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6" name="object 6"/>
          <p:cNvSpPr txBox="1">
            <a:spLocks noGrp="1"/>
          </p:cNvSpPr>
          <p:nvPr>
            <p:ph type="ftr" sz="quarter" idx="5"/>
          </p:nvPr>
        </p:nvSpPr>
        <p:spPr>
          <a:xfrm>
            <a:off x="5390077" y="6451049"/>
            <a:ext cx="1037796" cy="179536"/>
          </a:xfrm>
          <a:prstGeom prst="rect">
            <a:avLst/>
          </a:prstGeom>
        </p:spPr>
        <p:txBody>
          <a:bodyPr vert="horz" wrap="square" lIns="0" tIns="0" rIns="0" bIns="0" rtlCol="0">
            <a:spAutoFit/>
          </a:bodyPr>
          <a:lstStyle/>
          <a:p>
            <a:pPr marL="12700">
              <a:lnSpc>
                <a:spcPts val="1410"/>
              </a:lnSpc>
            </a:pPr>
            <a:r>
              <a:rPr lang="en-IN" dirty="0"/>
              <a:t>Batch No. DB13</a:t>
            </a:r>
            <a:endParaRPr lang="en-IN"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4</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160475840"/>
              </p:ext>
            </p:extLst>
          </p:nvPr>
        </p:nvGraphicFramePr>
        <p:xfrm>
          <a:off x="381000" y="838201"/>
          <a:ext cx="10939525" cy="5366833"/>
        </p:xfrm>
        <a:graphic>
          <a:graphicData uri="http://schemas.openxmlformats.org/drawingml/2006/table">
            <a:tbl>
              <a:tblPr firstRow="1" bandRow="1">
                <a:tableStyleId>{2D5ABB26-0587-4C30-8999-92F81FD0307C}</a:tableStyleId>
              </a:tblPr>
              <a:tblGrid>
                <a:gridCol w="463409">
                  <a:extLst>
                    <a:ext uri="{9D8B030D-6E8A-4147-A177-3AD203B41FA5}">
                      <a16:colId xmlns:a16="http://schemas.microsoft.com/office/drawing/2014/main" val="20000"/>
                    </a:ext>
                  </a:extLst>
                </a:gridCol>
                <a:gridCol w="1784439">
                  <a:extLst>
                    <a:ext uri="{9D8B030D-6E8A-4147-A177-3AD203B41FA5}">
                      <a16:colId xmlns:a16="http://schemas.microsoft.com/office/drawing/2014/main" val="20001"/>
                    </a:ext>
                  </a:extLst>
                </a:gridCol>
                <a:gridCol w="1573493">
                  <a:extLst>
                    <a:ext uri="{9D8B030D-6E8A-4147-A177-3AD203B41FA5}">
                      <a16:colId xmlns:a16="http://schemas.microsoft.com/office/drawing/2014/main" val="20002"/>
                    </a:ext>
                  </a:extLst>
                </a:gridCol>
                <a:gridCol w="1817459">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gridCol w="1931867">
                  <a:extLst>
                    <a:ext uri="{9D8B030D-6E8A-4147-A177-3AD203B41FA5}">
                      <a16:colId xmlns:a16="http://schemas.microsoft.com/office/drawing/2014/main" val="20005"/>
                    </a:ext>
                  </a:extLst>
                </a:gridCol>
                <a:gridCol w="1387658">
                  <a:extLst>
                    <a:ext uri="{9D8B030D-6E8A-4147-A177-3AD203B41FA5}">
                      <a16:colId xmlns:a16="http://schemas.microsoft.com/office/drawing/2014/main" val="20006"/>
                    </a:ext>
                  </a:extLst>
                </a:gridCol>
              </a:tblGrid>
              <a:tr h="403413">
                <a:tc>
                  <a:txBody>
                    <a:bodyPr/>
                    <a:lstStyle/>
                    <a:p>
                      <a:pPr marL="182880">
                        <a:lnSpc>
                          <a:spcPct val="100000"/>
                        </a:lnSpc>
                        <a:spcBef>
                          <a:spcPts val="325"/>
                        </a:spcBef>
                      </a:pPr>
                      <a:r>
                        <a:rPr sz="1350" b="1" spc="-25" dirty="0">
                          <a:latin typeface="Calibri"/>
                          <a:cs typeface="Calibri"/>
                        </a:rPr>
                        <a:t>No</a:t>
                      </a:r>
                      <a:endParaRPr sz="1350" dirty="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350" b="1" spc="-10" dirty="0">
                          <a:latin typeface="Calibri"/>
                          <a:cs typeface="Calibri"/>
                        </a:rPr>
                        <a:t>Title</a:t>
                      </a:r>
                      <a:endParaRPr sz="1350" dirty="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4">
                        <a:lnSpc>
                          <a:spcPct val="100000"/>
                        </a:lnSpc>
                        <a:spcBef>
                          <a:spcPts val="325"/>
                        </a:spcBef>
                      </a:pPr>
                      <a:r>
                        <a:rPr sz="1350" b="1" spc="-10" dirty="0">
                          <a:latin typeface="Calibri"/>
                          <a:cs typeface="Calibri"/>
                        </a:rPr>
                        <a:t>Author</a:t>
                      </a:r>
                      <a:endParaRPr sz="135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nSpc>
                          <a:spcPct val="104900"/>
                        </a:lnSpc>
                        <a:spcBef>
                          <a:spcPts val="229"/>
                        </a:spcBef>
                      </a:pPr>
                      <a:r>
                        <a:rPr sz="1350" b="1" dirty="0">
                          <a:latin typeface="Calibri"/>
                          <a:cs typeface="Calibri"/>
                        </a:rPr>
                        <a:t>Journal</a:t>
                      </a:r>
                      <a:r>
                        <a:rPr sz="1350" b="1" spc="130" dirty="0">
                          <a:latin typeface="Calibri"/>
                          <a:cs typeface="Calibri"/>
                        </a:rPr>
                        <a:t> </a:t>
                      </a:r>
                      <a:r>
                        <a:rPr sz="1350" b="1" dirty="0">
                          <a:latin typeface="Calibri"/>
                          <a:cs typeface="Calibri"/>
                        </a:rPr>
                        <a:t>Name</a:t>
                      </a:r>
                      <a:r>
                        <a:rPr sz="1350" b="1" spc="90" dirty="0">
                          <a:latin typeface="Calibri"/>
                          <a:cs typeface="Calibri"/>
                        </a:rPr>
                        <a:t> </a:t>
                      </a:r>
                      <a:r>
                        <a:rPr sz="1350" b="1" spc="-50" dirty="0">
                          <a:latin typeface="Calibri"/>
                          <a:cs typeface="Calibri"/>
                        </a:rPr>
                        <a:t>&amp; </a:t>
                      </a:r>
                      <a:r>
                        <a:rPr sz="1350" b="1" spc="-20" dirty="0">
                          <a:latin typeface="Calibri"/>
                          <a:cs typeface="Calibri"/>
                        </a:rPr>
                        <a:t>Year</a:t>
                      </a:r>
                      <a:endParaRPr sz="135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nSpc>
                          <a:spcPct val="104900"/>
                        </a:lnSpc>
                        <a:spcBef>
                          <a:spcPts val="229"/>
                        </a:spcBef>
                      </a:pPr>
                      <a:r>
                        <a:rPr sz="1350" b="1" spc="-10" dirty="0">
                          <a:latin typeface="Calibri"/>
                          <a:cs typeface="Calibri"/>
                        </a:rPr>
                        <a:t>Methodology Adapted</a:t>
                      </a:r>
                      <a:endParaRPr sz="135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nSpc>
                          <a:spcPct val="100000"/>
                        </a:lnSpc>
                        <a:spcBef>
                          <a:spcPts val="325"/>
                        </a:spcBef>
                      </a:pPr>
                      <a:r>
                        <a:rPr sz="1350" b="1" dirty="0">
                          <a:latin typeface="Calibri"/>
                          <a:cs typeface="Calibri"/>
                        </a:rPr>
                        <a:t>Key</a:t>
                      </a:r>
                      <a:r>
                        <a:rPr sz="1350" b="1" spc="45" dirty="0">
                          <a:latin typeface="Calibri"/>
                          <a:cs typeface="Calibri"/>
                        </a:rPr>
                        <a:t> </a:t>
                      </a:r>
                      <a:r>
                        <a:rPr sz="1350" b="1" spc="-10" dirty="0">
                          <a:latin typeface="Calibri"/>
                          <a:cs typeface="Calibri"/>
                        </a:rPr>
                        <a:t>Findings</a:t>
                      </a:r>
                      <a:endParaRPr sz="135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350" b="1" spc="-20" dirty="0">
                          <a:latin typeface="Calibri"/>
                          <a:cs typeface="Calibri"/>
                        </a:rPr>
                        <a:t>Gaps</a:t>
                      </a:r>
                      <a:endParaRPr sz="135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extLst>
                  <a:ext uri="{0D108BD9-81ED-4DB2-BD59-A6C34878D82A}">
                    <a16:rowId xmlns:a16="http://schemas.microsoft.com/office/drawing/2014/main" val="10000"/>
                  </a:ext>
                </a:extLst>
              </a:tr>
              <a:tr h="972825">
                <a:tc>
                  <a:txBody>
                    <a:bodyPr/>
                    <a:lstStyle/>
                    <a:p>
                      <a:pPr marL="92075">
                        <a:lnSpc>
                          <a:spcPct val="100000"/>
                        </a:lnSpc>
                        <a:spcBef>
                          <a:spcPts val="254"/>
                        </a:spcBef>
                      </a:pPr>
                      <a:r>
                        <a:rPr sz="1350" spc="-50" dirty="0">
                          <a:latin typeface="Calibri"/>
                          <a:cs typeface="Calibri"/>
                        </a:rPr>
                        <a:t>1</a:t>
                      </a:r>
                      <a:endParaRPr sz="135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254"/>
                        </a:spcBef>
                      </a:pPr>
                      <a:r>
                        <a:rPr lang="en-US" sz="1350" dirty="0"/>
                        <a:t>NLP-Based Fusion Approach to Robust Image Captioning</a:t>
                      </a:r>
                      <a:endParaRPr sz="1350" dirty="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it-IT" sz="1350" dirty="0"/>
                        <a:t>Riccardo Ricci, Farid Melgani, José Marcato Junior</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0">
                        <a:lnSpc>
                          <a:spcPct val="100000"/>
                        </a:lnSpc>
                        <a:spcBef>
                          <a:spcPts val="254"/>
                        </a:spcBef>
                      </a:pPr>
                      <a:r>
                        <a:rPr lang="en-US" sz="1350" b="0" i="0" u="none" strike="noStrike" dirty="0">
                          <a:solidFill>
                            <a:schemeClr val="tx1"/>
                          </a:solidFill>
                          <a:effectLst/>
                          <a:latin typeface="+mn-lt"/>
                          <a:ea typeface="+mn-ea"/>
                          <a:cs typeface="+mn-cs"/>
                          <a:hlinkClick r:id="rId2"/>
                        </a:rPr>
                        <a:t>IEEE Journal of Selected Topics in Applied Earth Observations and Remote Sensing</a:t>
                      </a:r>
                      <a:r>
                        <a:rPr lang="en-US" sz="1350" b="0" i="0" dirty="0">
                          <a:solidFill>
                            <a:schemeClr val="tx1"/>
                          </a:solidFill>
                          <a:effectLst/>
                          <a:latin typeface="+mn-lt"/>
                          <a:ea typeface="+mn-ea"/>
                          <a:cs typeface="+mn-cs"/>
                        </a:rPr>
                        <a:t> ( Volume: 17)</a:t>
                      </a:r>
                      <a:endParaRPr sz="1350" dirty="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dirty="0"/>
                        <a:t>Feature </a:t>
                      </a:r>
                      <a:r>
                        <a:rPr lang="en-IN" sz="1350" dirty="0" err="1"/>
                        <a:t>extraction;NLPbased</a:t>
                      </a:r>
                      <a:r>
                        <a:rPr lang="en-IN" sz="1350" dirty="0"/>
                        <a:t> fusion</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Combines visual features with </a:t>
                      </a:r>
                      <a:r>
                        <a:rPr lang="en-US" sz="1350" dirty="0" err="1"/>
                        <a:t>NLPbased</a:t>
                      </a:r>
                      <a:r>
                        <a:rPr lang="en-US" sz="1350" dirty="0"/>
                        <a:t> textual </a:t>
                      </a:r>
                      <a:r>
                        <a:rPr lang="en-US" sz="1350" dirty="0" err="1"/>
                        <a:t>representationsfor</a:t>
                      </a:r>
                      <a:r>
                        <a:rPr lang="en-US" sz="1350" dirty="0"/>
                        <a:t> improved RSIC captioning under noisy conditions </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Needs further evaluation on multilingual datasets</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810687">
                <a:tc>
                  <a:txBody>
                    <a:bodyPr/>
                    <a:lstStyle/>
                    <a:p>
                      <a:pPr marL="92075">
                        <a:lnSpc>
                          <a:spcPct val="100000"/>
                        </a:lnSpc>
                        <a:spcBef>
                          <a:spcPts val="265"/>
                        </a:spcBef>
                      </a:pPr>
                      <a:r>
                        <a:rPr sz="1350" spc="-50" dirty="0">
                          <a:latin typeface="Calibri"/>
                          <a:cs typeface="Calibri"/>
                        </a:rPr>
                        <a:t>2</a:t>
                      </a:r>
                      <a:endParaRPr sz="135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Retrieval Topic Recurrent Memory Network for Remote Sensing Image Captioning </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dirty="0" err="1"/>
                        <a:t>Binqiang</a:t>
                      </a:r>
                      <a:r>
                        <a:rPr lang="en-IN" sz="1350" dirty="0"/>
                        <a:t> Wang, </a:t>
                      </a:r>
                      <a:r>
                        <a:rPr lang="en-IN" sz="1350" dirty="0" err="1"/>
                        <a:t>Xiangtao</a:t>
                      </a:r>
                      <a:r>
                        <a:rPr lang="en-IN" sz="1350" dirty="0"/>
                        <a:t> Zheng, </a:t>
                      </a:r>
                      <a:r>
                        <a:rPr lang="en-IN" sz="1350" dirty="0" err="1"/>
                        <a:t>BoQu</a:t>
                      </a:r>
                      <a:r>
                        <a:rPr lang="en-IN" sz="1350" dirty="0"/>
                        <a:t>, </a:t>
                      </a:r>
                      <a:r>
                        <a:rPr lang="en-IN" sz="1350" dirty="0" err="1"/>
                        <a:t>Xiaoqiang</a:t>
                      </a:r>
                      <a:r>
                        <a:rPr lang="en-IN" sz="1350" dirty="0"/>
                        <a:t> Lu</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b="0" i="0" u="none" strike="noStrike" dirty="0">
                          <a:solidFill>
                            <a:schemeClr val="tx1"/>
                          </a:solidFill>
                          <a:effectLst/>
                          <a:latin typeface="+mn-lt"/>
                          <a:ea typeface="+mn-ea"/>
                          <a:cs typeface="+mn-cs"/>
                          <a:hlinkClick r:id="rId2"/>
                        </a:rPr>
                        <a:t>IEEE Journal of Selected Topics in Applied Earth Observations and Remote Sensing</a:t>
                      </a:r>
                      <a:r>
                        <a:rPr lang="en-US" sz="1350" b="0" i="0" dirty="0">
                          <a:solidFill>
                            <a:schemeClr val="tx1"/>
                          </a:solidFill>
                          <a:effectLst/>
                          <a:latin typeface="+mn-lt"/>
                          <a:ea typeface="+mn-ea"/>
                          <a:cs typeface="+mn-cs"/>
                        </a:rPr>
                        <a:t> ( Volume: 13)</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Retrieval of topics from </a:t>
                      </a:r>
                      <a:r>
                        <a:rPr lang="en-US" sz="1350" dirty="0" err="1"/>
                        <a:t>image+text</a:t>
                      </a:r>
                      <a:r>
                        <a:rPr lang="en-US" sz="1350" dirty="0"/>
                        <a:t> </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created a memory network to improve caption quality by retrieving topics.</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restricted to the variety of topics </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972825">
                <a:tc>
                  <a:txBody>
                    <a:bodyPr/>
                    <a:lstStyle/>
                    <a:p>
                      <a:pPr marL="92075">
                        <a:lnSpc>
                          <a:spcPct val="100000"/>
                        </a:lnSpc>
                        <a:spcBef>
                          <a:spcPts val="275"/>
                        </a:spcBef>
                      </a:pPr>
                      <a:r>
                        <a:rPr sz="1350" spc="-50" dirty="0">
                          <a:latin typeface="Calibri"/>
                          <a:cs typeface="Calibri"/>
                        </a:rPr>
                        <a:t>3</a:t>
                      </a:r>
                      <a:endParaRPr sz="1350">
                        <a:latin typeface="Calibri"/>
                        <a:cs typeface="Calibri"/>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latin typeface="+mn-lt"/>
                          <a:cs typeface="Times New Roman"/>
                        </a:rPr>
                        <a:t>Medical </a:t>
                      </a:r>
                      <a:r>
                        <a:rPr lang="en-US" sz="1350" dirty="0" err="1">
                          <a:latin typeface="+mn-lt"/>
                          <a:cs typeface="Times New Roman"/>
                        </a:rPr>
                        <a:t>ImageCaptioning</a:t>
                      </a:r>
                      <a:r>
                        <a:rPr lang="en-US" sz="1350" dirty="0">
                          <a:latin typeface="+mn-lt"/>
                          <a:cs typeface="Times New Roman"/>
                        </a:rPr>
                        <a:t> Model to Convey More </a:t>
                      </a:r>
                      <a:r>
                        <a:rPr lang="en-US" sz="1350" dirty="0" err="1">
                          <a:latin typeface="+mn-lt"/>
                          <a:cs typeface="Times New Roman"/>
                        </a:rPr>
                        <a:t>Details:</a:t>
                      </a:r>
                      <a:r>
                        <a:rPr lang="en-US" sz="1350" dirty="0" err="1">
                          <a:solidFill>
                            <a:schemeClr val="tx1"/>
                          </a:solidFill>
                          <a:latin typeface="+mn-lt"/>
                          <a:ea typeface="+mn-ea"/>
                          <a:cs typeface="+mn-cs"/>
                        </a:rPr>
                        <a:t>MethodologicalComparison</a:t>
                      </a:r>
                      <a:r>
                        <a:rPr lang="en-US" sz="1350" dirty="0">
                          <a:latin typeface="+mn-lt"/>
                          <a:cs typeface="Times New Roman"/>
                        </a:rPr>
                        <a:t> </a:t>
                      </a:r>
                      <a:r>
                        <a:rPr lang="en-US" sz="1350" dirty="0" err="1">
                          <a:latin typeface="+mn-lt"/>
                          <a:cs typeface="Times New Roman"/>
                        </a:rPr>
                        <a:t>ofFeature</a:t>
                      </a:r>
                      <a:r>
                        <a:rPr lang="en-US" sz="1350" dirty="0">
                          <a:latin typeface="+mn-lt"/>
                          <a:cs typeface="Times New Roman"/>
                        </a:rPr>
                        <a:t> </a:t>
                      </a:r>
                      <a:r>
                        <a:rPr lang="en-US" sz="1350" dirty="0" err="1">
                          <a:latin typeface="+mn-lt"/>
                          <a:cs typeface="Times New Roman"/>
                        </a:rPr>
                        <a:t>DifferenceGeneration</a:t>
                      </a:r>
                      <a:endParaRPr sz="1350" dirty="0">
                        <a:latin typeface="+mn-lt"/>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dirty="0" err="1">
                          <a:latin typeface="+mn-lt"/>
                          <a:cs typeface="Times New Roman"/>
                        </a:rPr>
                        <a:t>Hyeryun</a:t>
                      </a:r>
                      <a:r>
                        <a:rPr lang="en-IN" sz="1350" dirty="0">
                          <a:latin typeface="+mn-lt"/>
                          <a:cs typeface="Times New Roman"/>
                        </a:rPr>
                        <a:t> </a:t>
                      </a:r>
                      <a:r>
                        <a:rPr lang="en-IN" sz="1350" dirty="0" err="1">
                          <a:latin typeface="+mn-lt"/>
                          <a:cs typeface="Times New Roman"/>
                        </a:rPr>
                        <a:t>Park,Kyungmo</a:t>
                      </a:r>
                      <a:r>
                        <a:rPr lang="en-IN" sz="1350" dirty="0">
                          <a:latin typeface="+mn-lt"/>
                          <a:cs typeface="Times New Roman"/>
                        </a:rPr>
                        <a:t> </a:t>
                      </a:r>
                      <a:r>
                        <a:rPr lang="en-IN" sz="1350" dirty="0" err="1">
                          <a:latin typeface="+mn-lt"/>
                          <a:cs typeface="Times New Roman"/>
                        </a:rPr>
                        <a:t>Kim,Seongkeun</a:t>
                      </a:r>
                      <a:r>
                        <a:rPr lang="en-IN" sz="1350" dirty="0">
                          <a:latin typeface="+mn-lt"/>
                          <a:cs typeface="Times New Roman"/>
                        </a:rPr>
                        <a:t> </a:t>
                      </a:r>
                      <a:r>
                        <a:rPr lang="en-IN" sz="1350" dirty="0" err="1">
                          <a:latin typeface="+mn-lt"/>
                          <a:cs typeface="Times New Roman"/>
                        </a:rPr>
                        <a:t>Park,Jinwook</a:t>
                      </a:r>
                      <a:r>
                        <a:rPr lang="en-IN" sz="1350" dirty="0">
                          <a:latin typeface="+mn-lt"/>
                          <a:cs typeface="Times New Roman"/>
                        </a:rPr>
                        <a:t> Choi,2024, IEEE</a:t>
                      </a:r>
                      <a:endParaRPr sz="1350" dirty="0">
                        <a:latin typeface="+mn-lt"/>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b="0" i="0" u="none" strike="noStrike" dirty="0">
                          <a:solidFill>
                            <a:schemeClr val="tx1"/>
                          </a:solidFill>
                          <a:effectLst/>
                          <a:latin typeface="+mn-lt"/>
                          <a:ea typeface="+mn-ea"/>
                          <a:cs typeface="+mn-cs"/>
                          <a:hlinkClick r:id="rId3"/>
                        </a:rPr>
                        <a:t>IEEE Access</a:t>
                      </a:r>
                      <a:r>
                        <a:rPr lang="en-IN" sz="1350" b="0" i="0" dirty="0">
                          <a:solidFill>
                            <a:schemeClr val="tx1"/>
                          </a:solidFill>
                          <a:effectLst/>
                          <a:latin typeface="+mn-lt"/>
                          <a:ea typeface="+mn-ea"/>
                          <a:cs typeface="+mn-cs"/>
                        </a:rPr>
                        <a:t> ( Volume: 9)</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dirty="0"/>
                        <a:t>ResNet-152encoder;transformer/</a:t>
                      </a:r>
                      <a:r>
                        <a:rPr lang="en-IN" sz="1350" dirty="0" err="1"/>
                        <a:t>LSTMdecoders</a:t>
                      </a:r>
                      <a:r>
                        <a:rPr lang="en-IN" sz="1350" dirty="0"/>
                        <a:t>; </a:t>
                      </a:r>
                      <a:r>
                        <a:rPr lang="en-IN" sz="1350" dirty="0" err="1"/>
                        <a:t>featuredifferencevectors</a:t>
                      </a:r>
                      <a:r>
                        <a:rPr lang="en-IN" sz="1350" dirty="0"/>
                        <a:t>.</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latin typeface="+mn-lt"/>
                          <a:cs typeface="Times New Roman"/>
                        </a:rPr>
                        <a:t>Developed a chest X-</a:t>
                      </a:r>
                      <a:r>
                        <a:rPr lang="en-US" sz="1350" dirty="0" err="1">
                          <a:latin typeface="+mn-lt"/>
                          <a:cs typeface="Times New Roman"/>
                        </a:rPr>
                        <a:t>rayimage</a:t>
                      </a:r>
                      <a:r>
                        <a:rPr lang="en-US" sz="1350" dirty="0">
                          <a:latin typeface="+mn-lt"/>
                          <a:cs typeface="Times New Roman"/>
                        </a:rPr>
                        <a:t> captioning </a:t>
                      </a:r>
                      <a:r>
                        <a:rPr lang="en-US" sz="1350" dirty="0" err="1">
                          <a:latin typeface="+mn-lt"/>
                          <a:cs typeface="Times New Roman"/>
                        </a:rPr>
                        <a:t>modelusing</a:t>
                      </a:r>
                      <a:r>
                        <a:rPr lang="en-US" sz="1350" dirty="0">
                          <a:latin typeface="+mn-lt"/>
                          <a:cs typeface="Times New Roman"/>
                        </a:rPr>
                        <a:t> feature </a:t>
                      </a:r>
                      <a:r>
                        <a:rPr lang="en-US" sz="1350" dirty="0" err="1">
                          <a:latin typeface="+mn-lt"/>
                          <a:cs typeface="Times New Roman"/>
                        </a:rPr>
                        <a:t>differencesbetween</a:t>
                      </a:r>
                      <a:r>
                        <a:rPr lang="en-US" sz="1350" dirty="0">
                          <a:latin typeface="+mn-lt"/>
                          <a:cs typeface="Times New Roman"/>
                        </a:rPr>
                        <a:t> patient </a:t>
                      </a:r>
                      <a:r>
                        <a:rPr lang="en-US" sz="1350" dirty="0" err="1">
                          <a:latin typeface="+mn-lt"/>
                          <a:cs typeface="Times New Roman"/>
                        </a:rPr>
                        <a:t>andnormal</a:t>
                      </a:r>
                      <a:r>
                        <a:rPr lang="en-US" sz="1350" dirty="0">
                          <a:latin typeface="+mn-lt"/>
                          <a:cs typeface="Times New Roman"/>
                        </a:rPr>
                        <a:t> images.</a:t>
                      </a:r>
                      <a:endParaRPr sz="1350" dirty="0">
                        <a:latin typeface="+mn-lt"/>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latin typeface="Times New Roman"/>
                          <a:cs typeface="Times New Roman"/>
                        </a:rPr>
                        <a:t>Difficulty in accurately </a:t>
                      </a:r>
                      <a:r>
                        <a:rPr lang="en-US" sz="1350" dirty="0" err="1">
                          <a:latin typeface="Times New Roman"/>
                          <a:cs typeface="Times New Roman"/>
                        </a:rPr>
                        <a:t>describingall</a:t>
                      </a:r>
                      <a:r>
                        <a:rPr lang="en-US" sz="1350" dirty="0">
                          <a:latin typeface="Times New Roman"/>
                          <a:cs typeface="Times New Roman"/>
                        </a:rPr>
                        <a:t> abnormal findings </a:t>
                      </a:r>
                      <a:r>
                        <a:rPr lang="en-US" sz="1350" dirty="0" err="1">
                          <a:latin typeface="Times New Roman"/>
                          <a:cs typeface="Times New Roman"/>
                        </a:rPr>
                        <a:t>anddetailed</a:t>
                      </a:r>
                      <a:r>
                        <a:rPr lang="en-US" sz="1350" dirty="0">
                          <a:latin typeface="Times New Roman"/>
                          <a:cs typeface="Times New Roman"/>
                        </a:rPr>
                        <a:t> causes.</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972825">
                <a:tc>
                  <a:txBody>
                    <a:bodyPr/>
                    <a:lstStyle/>
                    <a:p>
                      <a:pPr marL="92075">
                        <a:lnSpc>
                          <a:spcPct val="100000"/>
                        </a:lnSpc>
                        <a:spcBef>
                          <a:spcPts val="285"/>
                        </a:spcBef>
                      </a:pPr>
                      <a:r>
                        <a:rPr sz="1350" spc="-50" dirty="0">
                          <a:latin typeface="Calibri"/>
                          <a:cs typeface="Calibri"/>
                        </a:rPr>
                        <a:t>4</a:t>
                      </a:r>
                      <a:endParaRPr sz="1350" dirty="0">
                        <a:latin typeface="Calibri"/>
                        <a:cs typeface="Calibri"/>
                      </a:endParaRPr>
                    </a:p>
                  </a:txBody>
                  <a:tcPr marL="0" marR="0" marT="361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dirty="0"/>
                        <a:t>VAA: Visual Aligning Attention Model for Remote Sensing Image Captioning</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dirty="0"/>
                        <a:t>Zhengyuan Zhang, Wenkai Zhang, Wenhui Diao, </a:t>
                      </a:r>
                      <a:r>
                        <a:rPr lang="en-IN" sz="1350" dirty="0" err="1"/>
                        <a:t>Menglong</a:t>
                      </a:r>
                      <a:r>
                        <a:rPr lang="en-IN" sz="1350" dirty="0"/>
                        <a:t> Yan</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b="0" i="0" u="none" strike="noStrike" dirty="0">
                          <a:solidFill>
                            <a:schemeClr val="tx1"/>
                          </a:solidFill>
                          <a:effectLst/>
                          <a:latin typeface="+mn-lt"/>
                          <a:ea typeface="+mn-ea"/>
                          <a:cs typeface="+mn-cs"/>
                          <a:hlinkClick r:id="rId3"/>
                        </a:rPr>
                        <a:t>IEEE Access</a:t>
                      </a:r>
                      <a:r>
                        <a:rPr lang="en-IN" sz="1350" b="0" i="0" dirty="0">
                          <a:solidFill>
                            <a:schemeClr val="tx1"/>
                          </a:solidFill>
                          <a:effectLst/>
                          <a:latin typeface="+mn-lt"/>
                          <a:ea typeface="+mn-ea"/>
                          <a:cs typeface="+mn-cs"/>
                        </a:rPr>
                        <a:t> ( Volume: 7)</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dirty="0"/>
                        <a:t>Attention model</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Better performance on UCM/Sydney; increased attention to semantic regions</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May ignore small/complex objects </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972825">
                <a:tc>
                  <a:txBody>
                    <a:bodyPr/>
                    <a:lstStyle/>
                    <a:p>
                      <a:pPr marL="92075">
                        <a:lnSpc>
                          <a:spcPct val="100000"/>
                        </a:lnSpc>
                        <a:spcBef>
                          <a:spcPts val="295"/>
                        </a:spcBef>
                      </a:pPr>
                      <a:r>
                        <a:rPr sz="1350" spc="-50" dirty="0">
                          <a:latin typeface="Calibri"/>
                          <a:cs typeface="Calibri"/>
                        </a:rPr>
                        <a:t>5</a:t>
                      </a:r>
                      <a:endParaRPr sz="135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VLCA: vision language aligning model with </a:t>
                      </a:r>
                      <a:r>
                        <a:rPr lang="en-US" sz="1350" dirty="0" err="1"/>
                        <a:t>crossmodal</a:t>
                      </a:r>
                      <a:r>
                        <a:rPr lang="en-US" sz="1350" dirty="0"/>
                        <a:t> attention for </a:t>
                      </a:r>
                      <a:r>
                        <a:rPr lang="en-US" sz="1350" dirty="0" err="1"/>
                        <a:t>bilingualremote</a:t>
                      </a:r>
                      <a:r>
                        <a:rPr lang="en-US" sz="1350" dirty="0"/>
                        <a:t> sensing image captioning</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dirty="0"/>
                        <a:t>Tingting Wei, Weilin Yuan, </a:t>
                      </a:r>
                      <a:r>
                        <a:rPr lang="en-IN" sz="1350" dirty="0" err="1"/>
                        <a:t>Junren</a:t>
                      </a:r>
                      <a:r>
                        <a:rPr lang="en-IN" sz="1350" dirty="0"/>
                        <a:t> Luo, </a:t>
                      </a:r>
                      <a:r>
                        <a:rPr lang="en-IN" sz="1350" dirty="0" err="1"/>
                        <a:t>Wanpeng</a:t>
                      </a:r>
                      <a:r>
                        <a:rPr lang="en-IN" sz="1350" dirty="0"/>
                        <a:t> Zhang</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b="0" i="0" u="none" strike="noStrike" dirty="0">
                          <a:solidFill>
                            <a:schemeClr val="tx1"/>
                          </a:solidFill>
                          <a:effectLst/>
                          <a:latin typeface="+mn-lt"/>
                          <a:ea typeface="+mn-ea"/>
                          <a:cs typeface="+mn-cs"/>
                          <a:hlinkClick r:id="rId4"/>
                        </a:rPr>
                        <a:t>Journal of Systems Engineering and Electronics</a:t>
                      </a:r>
                      <a:r>
                        <a:rPr lang="en-US" sz="1350" b="0" i="0" dirty="0">
                          <a:solidFill>
                            <a:schemeClr val="tx1"/>
                          </a:solidFill>
                          <a:effectLst/>
                          <a:latin typeface="+mn-lt"/>
                          <a:ea typeface="+mn-ea"/>
                          <a:cs typeface="+mn-cs"/>
                        </a:rPr>
                        <a:t> ( Volume: 34, </a:t>
                      </a:r>
                      <a:r>
                        <a:rPr lang="en-US" sz="1350" b="0" i="0" u="none" strike="noStrike" dirty="0">
                          <a:solidFill>
                            <a:schemeClr val="tx1"/>
                          </a:solidFill>
                          <a:effectLst/>
                          <a:latin typeface="+mn-lt"/>
                          <a:ea typeface="+mn-ea"/>
                          <a:cs typeface="+mn-cs"/>
                          <a:hlinkClick r:id="rId5"/>
                        </a:rPr>
                        <a:t>Issue: 1</a:t>
                      </a:r>
                      <a:r>
                        <a:rPr lang="en-US" sz="1350" b="0" i="0" dirty="0">
                          <a:solidFill>
                            <a:schemeClr val="tx1"/>
                          </a:solidFill>
                          <a:effectLst/>
                          <a:latin typeface="+mn-lt"/>
                          <a:ea typeface="+mn-ea"/>
                          <a:cs typeface="+mn-cs"/>
                        </a:rPr>
                        <a:t>, February 2023)</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DIOR-Captions is a bilingual dataset, Cross-modal attention</a:t>
                      </a:r>
                      <a:endParaRPr lang="en-US"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1350" dirty="0"/>
                        <a:t>Improved visual-language alignment and the first bilingual RS captioning</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IN" sz="1350" dirty="0"/>
                        <a:t>Limited language pairs/domain adaptation</a:t>
                      </a:r>
                      <a:endParaRPr sz="135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3554" y="591924"/>
            <a:ext cx="10101072" cy="1200005"/>
          </a:xfrm>
          <a:prstGeom prst="rect">
            <a:avLst/>
          </a:prstGeom>
        </p:spPr>
        <p:txBody>
          <a:bodyPr vert="horz" wrap="square" lIns="0" tIns="262889" rIns="0" bIns="0" rtlCol="0">
            <a:spAutoFit/>
          </a:bodyPr>
          <a:lstStyle/>
          <a:p>
            <a:pPr marL="2188210">
              <a:lnSpc>
                <a:spcPct val="100000"/>
              </a:lnSpc>
              <a:spcBef>
                <a:spcPts val="130"/>
              </a:spcBef>
            </a:pPr>
            <a:r>
              <a:rPr spc="-35" dirty="0"/>
              <a:t>LITERATURE</a:t>
            </a:r>
            <a:r>
              <a:rPr spc="-204" dirty="0"/>
              <a:t> </a:t>
            </a:r>
            <a:r>
              <a:rPr spc="-10" dirty="0"/>
              <a:t>SURVEY</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-12-</a:t>
            </a:r>
            <a:r>
              <a:rPr spc="-20" dirty="0"/>
              <a:t>202</a:t>
            </a:r>
            <a:r>
              <a:rPr lang="en-IN" spc="-20" dirty="0"/>
              <a:t>5</a:t>
            </a:r>
            <a:endParaRPr spc="-20" dirty="0"/>
          </a:p>
        </p:txBody>
      </p:sp>
      <p:sp>
        <p:nvSpPr>
          <p:cNvPr id="5" name="object 5"/>
          <p:cNvSpPr txBox="1"/>
          <p:nvPr/>
        </p:nvSpPr>
        <p:spPr>
          <a:xfrm>
            <a:off x="4429378" y="6451049"/>
            <a:ext cx="828422"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6" name="object 6"/>
          <p:cNvSpPr txBox="1">
            <a:spLocks noGrp="1"/>
          </p:cNvSpPr>
          <p:nvPr>
            <p:ph type="ftr" sz="quarter" idx="5"/>
          </p:nvPr>
        </p:nvSpPr>
        <p:spPr>
          <a:xfrm>
            <a:off x="5334000" y="6451049"/>
            <a:ext cx="1066800" cy="179536"/>
          </a:xfrm>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r>
              <a:rPr lang="en-IN" spc="-25" dirty="0"/>
              <a:t>DB13</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5</a:t>
            </a:fld>
            <a:endParaRPr spc="-25" dirty="0"/>
          </a:p>
        </p:txBody>
      </p:sp>
      <p:sp>
        <p:nvSpPr>
          <p:cNvPr id="3" name="object 3"/>
          <p:cNvSpPr txBox="1"/>
          <p:nvPr/>
        </p:nvSpPr>
        <p:spPr>
          <a:xfrm>
            <a:off x="1298482" y="1600200"/>
            <a:ext cx="9367060" cy="4527906"/>
          </a:xfrm>
          <a:prstGeom prst="rect">
            <a:avLst/>
          </a:prstGeom>
        </p:spPr>
        <p:txBody>
          <a:bodyPr vert="horz" wrap="square" lIns="0" tIns="98425" rIns="0" bIns="0" rtlCol="0">
            <a:spAutoFit/>
          </a:bodyPr>
          <a:lstStyle/>
          <a:p>
            <a:pPr marL="298450" indent="-285750">
              <a:lnSpc>
                <a:spcPct val="150000"/>
              </a:lnSpc>
              <a:spcBef>
                <a:spcPts val="775"/>
              </a:spcBef>
              <a:buFont typeface="Arial" panose="020B0604020202020204" pitchFamily="34" charset="0"/>
              <a:buChar char="•"/>
              <a:tabLst>
                <a:tab pos="240665" algn="l"/>
              </a:tabLst>
            </a:pPr>
            <a:r>
              <a:rPr lang="en-US" sz="1600" b="1" dirty="0"/>
              <a:t>Early Works:</a:t>
            </a:r>
            <a:r>
              <a:rPr lang="en-US" sz="1600" dirty="0"/>
              <a:t> </a:t>
            </a:r>
            <a:r>
              <a:rPr lang="en-US" sz="1600" dirty="0" err="1"/>
              <a:t>Vinyals</a:t>
            </a:r>
            <a:r>
              <a:rPr lang="en-US" sz="1600" dirty="0"/>
              <a:t> et al. (2015) and Xu et al. (2015) introduced neural image captioning using CNN-RNN and attention mechanisms, forming the foundation for visual-language modeling.</a:t>
            </a:r>
          </a:p>
          <a:p>
            <a:pPr marL="298450" indent="-285750">
              <a:lnSpc>
                <a:spcPct val="150000"/>
              </a:lnSpc>
              <a:spcBef>
                <a:spcPts val="775"/>
              </a:spcBef>
              <a:buFont typeface="Arial" panose="020B0604020202020204" pitchFamily="34" charset="0"/>
              <a:buChar char="•"/>
              <a:tabLst>
                <a:tab pos="240665" algn="l"/>
              </a:tabLst>
            </a:pPr>
            <a:r>
              <a:rPr lang="en-IN" sz="1600" b="1" dirty="0"/>
              <a:t>Remote Sensing Focus:</a:t>
            </a:r>
            <a:r>
              <a:rPr lang="en-IN" sz="1600" dirty="0"/>
              <a:t> Lu et al. (2017) created the RSICD dataset, enabling research in satellite image captioning, while Cheng et al. (2017) benchmarked remote sensing classification techniques.</a:t>
            </a:r>
          </a:p>
          <a:p>
            <a:pPr marL="298450" indent="-285750">
              <a:lnSpc>
                <a:spcPct val="150000"/>
              </a:lnSpc>
              <a:spcBef>
                <a:spcPts val="775"/>
              </a:spcBef>
              <a:buFont typeface="Arial" panose="020B0604020202020204" pitchFamily="34" charset="0"/>
              <a:buChar char="•"/>
              <a:tabLst>
                <a:tab pos="240665" algn="l"/>
              </a:tabLst>
            </a:pPr>
            <a:r>
              <a:rPr lang="en-US" sz="1600" b="1" dirty="0"/>
              <a:t>Deep Learning Expansion:</a:t>
            </a:r>
            <a:r>
              <a:rPr lang="en-US" sz="1600" dirty="0"/>
              <a:t> Zhu et al. (2017) and Li et al. (2022) provided comprehensive reviews of deep learning methods for remote sensing image analysis.</a:t>
            </a:r>
          </a:p>
          <a:p>
            <a:pPr marL="298450" indent="-285750">
              <a:lnSpc>
                <a:spcPct val="150000"/>
              </a:lnSpc>
              <a:spcBef>
                <a:spcPts val="775"/>
              </a:spcBef>
              <a:buFont typeface="Arial" panose="020B0604020202020204" pitchFamily="34" charset="0"/>
              <a:buChar char="•"/>
              <a:tabLst>
                <a:tab pos="240665" algn="l"/>
              </a:tabLst>
            </a:pPr>
            <a:r>
              <a:rPr lang="en-US" sz="1600" b="1" dirty="0"/>
              <a:t>Fusion and Domain Adaptation:</a:t>
            </a:r>
            <a:r>
              <a:rPr lang="en-US" sz="1600" dirty="0"/>
              <a:t> Zhang et al. (2021) and Chen et al. (2020) explored fusion-based and domain adaptation techniques to enhance caption accuracy across datasets.</a:t>
            </a:r>
          </a:p>
          <a:p>
            <a:pPr marL="298450" indent="-285750">
              <a:lnSpc>
                <a:spcPct val="150000"/>
              </a:lnSpc>
              <a:spcBef>
                <a:spcPts val="775"/>
              </a:spcBef>
              <a:buFont typeface="Arial" panose="020B0604020202020204" pitchFamily="34" charset="0"/>
              <a:buChar char="•"/>
              <a:tabLst>
                <a:tab pos="240665" algn="l"/>
              </a:tabLst>
            </a:pPr>
            <a:r>
              <a:rPr lang="en-US" sz="1600" b="1" dirty="0"/>
              <a:t>Modern Vision-Language Models:</a:t>
            </a:r>
            <a:r>
              <a:rPr lang="en-US" sz="1600" dirty="0"/>
              <a:t> Li et al. (2022) introduced BLIP and Huang et al. (2023) developed Kosmos-2, both leveraging large-scale pretraining to unify vision and language understanding.</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6874" y="609600"/>
            <a:ext cx="10101072" cy="1200005"/>
          </a:xfrm>
          <a:prstGeom prst="rect">
            <a:avLst/>
          </a:prstGeom>
        </p:spPr>
        <p:txBody>
          <a:bodyPr vert="horz" wrap="square" lIns="0" tIns="262889" rIns="0" bIns="0" rtlCol="0">
            <a:spAutoFit/>
          </a:bodyPr>
          <a:lstStyle/>
          <a:p>
            <a:pPr marL="2027555">
              <a:lnSpc>
                <a:spcPct val="100000"/>
              </a:lnSpc>
              <a:spcBef>
                <a:spcPts val="130"/>
              </a:spcBef>
            </a:pPr>
            <a:r>
              <a:rPr dirty="0"/>
              <a:t>PROBLEM</a:t>
            </a:r>
            <a:r>
              <a:rPr spc="-170" dirty="0"/>
              <a:t> </a:t>
            </a:r>
            <a:r>
              <a:rPr spc="-50" dirty="0"/>
              <a:t>STATEMENT</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-12-</a:t>
            </a:r>
            <a:r>
              <a:rPr spc="-20" dirty="0"/>
              <a:t>202</a:t>
            </a:r>
            <a:r>
              <a:rPr lang="en-IN" spc="-20" dirty="0"/>
              <a:t>5</a:t>
            </a:r>
            <a:endParaRPr spc="-20" dirty="0"/>
          </a:p>
        </p:txBody>
      </p:sp>
      <p:sp>
        <p:nvSpPr>
          <p:cNvPr id="5" name="object 5"/>
          <p:cNvSpPr txBox="1"/>
          <p:nvPr/>
        </p:nvSpPr>
        <p:spPr>
          <a:xfrm>
            <a:off x="4429378" y="6451049"/>
            <a:ext cx="904622"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6" name="object 6"/>
          <p:cNvSpPr txBox="1">
            <a:spLocks noGrp="1"/>
          </p:cNvSpPr>
          <p:nvPr>
            <p:ph type="ftr" sz="quarter" idx="5"/>
          </p:nvPr>
        </p:nvSpPr>
        <p:spPr>
          <a:xfrm>
            <a:off x="5334000" y="6451049"/>
            <a:ext cx="1075770" cy="179536"/>
          </a:xfrm>
          <a:prstGeom prst="rect">
            <a:avLst/>
          </a:prstGeom>
        </p:spPr>
        <p:txBody>
          <a:bodyPr vert="horz" wrap="square" lIns="0" tIns="0" rIns="0" bIns="0" rtlCol="0">
            <a:spAutoFit/>
          </a:bodyPr>
          <a:lstStyle/>
          <a:p>
            <a:pPr marL="12700">
              <a:lnSpc>
                <a:spcPts val="1410"/>
              </a:lnSpc>
            </a:pPr>
            <a:r>
              <a:rPr lang="en-IN" dirty="0"/>
              <a:t>Batch No.DB13</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6</a:t>
            </a:fld>
            <a:endParaRPr spc="-25" dirty="0"/>
          </a:p>
        </p:txBody>
      </p:sp>
      <p:sp>
        <p:nvSpPr>
          <p:cNvPr id="3" name="object 3"/>
          <p:cNvSpPr txBox="1"/>
          <p:nvPr/>
        </p:nvSpPr>
        <p:spPr>
          <a:xfrm>
            <a:off x="1373187" y="2057400"/>
            <a:ext cx="9445625" cy="3737690"/>
          </a:xfrm>
          <a:prstGeom prst="rect">
            <a:avLst/>
          </a:prstGeom>
        </p:spPr>
        <p:txBody>
          <a:bodyPr vert="horz" wrap="square" lIns="0" tIns="99060" rIns="0" bIns="0" rtlCol="0">
            <a:spAutoFit/>
          </a:bodyPr>
          <a:lstStyle/>
          <a:p>
            <a:pPr marL="285750" indent="-285750">
              <a:lnSpc>
                <a:spcPct val="150000"/>
              </a:lnSpc>
              <a:buClrTx/>
              <a:buFont typeface="Arial" panose="020B0604020202020204" pitchFamily="34" charset="0"/>
              <a:buChar char="•"/>
            </a:pPr>
            <a:r>
              <a:rPr lang="en-US" sz="2000" dirty="0"/>
              <a:t>Remote sensing images lack conventional visual cues found in ground-level photography</a:t>
            </a:r>
          </a:p>
          <a:p>
            <a:pPr marL="285750" indent="-285750">
              <a:lnSpc>
                <a:spcPct val="150000"/>
              </a:lnSpc>
              <a:buClrTx/>
              <a:buFont typeface="Arial" panose="020B0604020202020204" pitchFamily="34" charset="0"/>
              <a:buChar char="•"/>
            </a:pPr>
            <a:r>
              <a:rPr lang="en-IN" sz="2000" dirty="0"/>
              <a:t>Individual captioning models generate inconsistent or vague descriptions.</a:t>
            </a:r>
          </a:p>
          <a:p>
            <a:pPr marL="285750" indent="-285750">
              <a:lnSpc>
                <a:spcPct val="150000"/>
              </a:lnSpc>
              <a:buClrTx/>
              <a:buFont typeface="Arial" panose="020B0604020202020204" pitchFamily="34" charset="0"/>
              <a:buChar char="•"/>
            </a:pPr>
            <a:r>
              <a:rPr lang="en-US" sz="2000" dirty="0"/>
              <a:t>There is a requirement for an ensemble strategy to merge multiple model outputs.</a:t>
            </a:r>
          </a:p>
          <a:p>
            <a:pPr marL="285750" indent="-285750">
              <a:lnSpc>
                <a:spcPct val="150000"/>
              </a:lnSpc>
              <a:buClrTx/>
              <a:buFont typeface="Arial" panose="020B0604020202020204" pitchFamily="34" charset="0"/>
              <a:buChar char="•"/>
            </a:pPr>
            <a:r>
              <a:rPr lang="en-US" sz="2000" dirty="0"/>
              <a:t>Aim to enhance caption accuracy, fluency, and semantic richness.</a:t>
            </a:r>
          </a:p>
          <a:p>
            <a:pPr marL="285750" indent="-285750">
              <a:lnSpc>
                <a:spcPct val="150000"/>
              </a:lnSpc>
              <a:buClrTx/>
              <a:buFont typeface="Arial" panose="020B0604020202020204" pitchFamily="34" charset="0"/>
              <a:buChar char="•"/>
            </a:pPr>
            <a:r>
              <a:rPr lang="en-US" sz="2000" dirty="0"/>
              <a:t>Develop a voting-based selection that identifies the best caption among alternatives.</a:t>
            </a:r>
            <a:endParaRPr sz="20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4612" y="762000"/>
            <a:ext cx="10101072" cy="1200005"/>
          </a:xfrm>
          <a:prstGeom prst="rect">
            <a:avLst/>
          </a:prstGeom>
        </p:spPr>
        <p:txBody>
          <a:bodyPr vert="horz" wrap="square" lIns="0" tIns="262889" rIns="0" bIns="0" rtlCol="0">
            <a:spAutoFit/>
          </a:bodyPr>
          <a:lstStyle/>
          <a:p>
            <a:pPr marL="3454400">
              <a:lnSpc>
                <a:spcPct val="100000"/>
              </a:lnSpc>
              <a:spcBef>
                <a:spcPts val="130"/>
              </a:spcBef>
            </a:pPr>
            <a:r>
              <a:rPr spc="-10" dirty="0"/>
              <a:t>OBJECTIVES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-12-</a:t>
            </a:r>
            <a:r>
              <a:rPr spc="-20" dirty="0"/>
              <a:t>202</a:t>
            </a:r>
            <a:r>
              <a:rPr lang="en-IN" spc="-20" dirty="0"/>
              <a:t>5</a:t>
            </a:r>
            <a:endParaRPr spc="-20" dirty="0"/>
          </a:p>
        </p:txBody>
      </p:sp>
      <p:sp>
        <p:nvSpPr>
          <p:cNvPr id="5" name="object 5"/>
          <p:cNvSpPr txBox="1"/>
          <p:nvPr/>
        </p:nvSpPr>
        <p:spPr>
          <a:xfrm>
            <a:off x="4429378" y="6451049"/>
            <a:ext cx="828422"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6" name="object 6"/>
          <p:cNvSpPr txBox="1">
            <a:spLocks noGrp="1"/>
          </p:cNvSpPr>
          <p:nvPr>
            <p:ph type="ftr" sz="quarter" idx="5"/>
          </p:nvPr>
        </p:nvSpPr>
        <p:spPr>
          <a:xfrm>
            <a:off x="5505148" y="6451049"/>
            <a:ext cx="1037796" cy="179536"/>
          </a:xfrm>
          <a:prstGeom prst="rect">
            <a:avLst/>
          </a:prstGeom>
        </p:spPr>
        <p:txBody>
          <a:bodyPr vert="horz" wrap="square" lIns="0" tIns="0" rIns="0" bIns="0" rtlCol="0">
            <a:spAutoFit/>
          </a:bodyPr>
          <a:lstStyle/>
          <a:p>
            <a:pPr marL="12700">
              <a:lnSpc>
                <a:spcPts val="1410"/>
              </a:lnSpc>
            </a:pPr>
            <a:r>
              <a:rPr lang="en-IN" dirty="0"/>
              <a:t>Batch No.DB13</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7</a:t>
            </a:fld>
            <a:endParaRPr spc="-25" dirty="0"/>
          </a:p>
        </p:txBody>
      </p:sp>
      <p:sp>
        <p:nvSpPr>
          <p:cNvPr id="3" name="object 3"/>
          <p:cNvSpPr txBox="1"/>
          <p:nvPr/>
        </p:nvSpPr>
        <p:spPr>
          <a:xfrm>
            <a:off x="1191764" y="2057400"/>
            <a:ext cx="9979025" cy="2353016"/>
          </a:xfrm>
          <a:prstGeom prst="rect">
            <a:avLst/>
          </a:prstGeom>
        </p:spPr>
        <p:txBody>
          <a:bodyPr vert="horz" wrap="square" lIns="0" tIns="99060" rIns="0" bIns="0" rtlCol="0">
            <a:spAutoFit/>
          </a:bodyPr>
          <a:lstStyle/>
          <a:p>
            <a:pPr marL="342900" indent="-342900">
              <a:lnSpc>
                <a:spcPct val="150000"/>
              </a:lnSpc>
              <a:buClrTx/>
              <a:buFont typeface="Arial" panose="020B0604020202020204" pitchFamily="34" charset="0"/>
              <a:buChar char="•"/>
            </a:pPr>
            <a:r>
              <a:rPr lang="en-US" sz="2000" dirty="0"/>
              <a:t>Design an ensemble framework for satellite image captioning.</a:t>
            </a:r>
          </a:p>
          <a:p>
            <a:pPr marL="342900" indent="-342900">
              <a:lnSpc>
                <a:spcPct val="150000"/>
              </a:lnSpc>
              <a:buClrTx/>
              <a:buFont typeface="Arial" panose="020B0604020202020204" pitchFamily="34" charset="0"/>
              <a:buChar char="•"/>
            </a:pPr>
            <a:r>
              <a:rPr lang="en-US" sz="2000" dirty="0"/>
              <a:t>Combine BLIP-base and Kosmos-2 to leverage complementary strengths</a:t>
            </a:r>
          </a:p>
          <a:p>
            <a:pPr marL="342900" indent="-342900">
              <a:lnSpc>
                <a:spcPct val="150000"/>
              </a:lnSpc>
              <a:buClrTx/>
              <a:buFont typeface="Arial" panose="020B0604020202020204" pitchFamily="34" charset="0"/>
              <a:buChar char="•"/>
            </a:pPr>
            <a:r>
              <a:rPr lang="en-IN" sz="2000" dirty="0"/>
              <a:t>Generate multiple captions per image for diversity.</a:t>
            </a:r>
          </a:p>
          <a:p>
            <a:pPr marL="342900" indent="-342900">
              <a:lnSpc>
                <a:spcPct val="150000"/>
              </a:lnSpc>
              <a:buClrTx/>
              <a:buFont typeface="Arial" panose="020B0604020202020204" pitchFamily="34" charset="0"/>
              <a:buChar char="•"/>
            </a:pPr>
            <a:r>
              <a:rPr lang="en-US" sz="2000" dirty="0"/>
              <a:t>Implement a voting-based fusion method to select optimal output.</a:t>
            </a:r>
          </a:p>
          <a:p>
            <a:pPr marL="342900" indent="-342900">
              <a:lnSpc>
                <a:spcPct val="150000"/>
              </a:lnSpc>
              <a:buClrTx/>
              <a:buFont typeface="Arial" panose="020B0604020202020204" pitchFamily="34" charset="0"/>
              <a:buChar char="•"/>
            </a:pPr>
            <a:r>
              <a:rPr lang="en-US" sz="2000" dirty="0"/>
              <a:t>Use RSICD dataset for evaluation and benchmarking.</a:t>
            </a:r>
            <a:endParaRPr lang="en-I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3953" y="238197"/>
            <a:ext cx="10101072" cy="1200005"/>
          </a:xfrm>
          <a:prstGeom prst="rect">
            <a:avLst/>
          </a:prstGeom>
        </p:spPr>
        <p:txBody>
          <a:bodyPr vert="horz" wrap="square" lIns="0" tIns="299720" rIns="0" bIns="0" rtlCol="0">
            <a:spAutoFit/>
          </a:bodyPr>
          <a:lstStyle/>
          <a:p>
            <a:pPr marL="360045">
              <a:lnSpc>
                <a:spcPct val="100000"/>
              </a:lnSpc>
              <a:spcBef>
                <a:spcPts val="130"/>
              </a:spcBef>
            </a:pPr>
            <a:r>
              <a:rPr sz="3950" dirty="0"/>
              <a:t>BLOCK</a:t>
            </a:r>
            <a:r>
              <a:rPr sz="3950" spc="60" dirty="0"/>
              <a:t> </a:t>
            </a:r>
            <a:r>
              <a:rPr sz="3950" dirty="0"/>
              <a:t>DIAGRAM</a:t>
            </a:r>
            <a:r>
              <a:rPr sz="3950" spc="90" dirty="0"/>
              <a:t> </a:t>
            </a:r>
            <a:r>
              <a:rPr sz="3950" dirty="0"/>
              <a:t>OR</a:t>
            </a:r>
            <a:r>
              <a:rPr sz="3950" spc="70" dirty="0"/>
              <a:t> </a:t>
            </a:r>
            <a:r>
              <a:rPr sz="3950" dirty="0"/>
              <a:t>FLOW</a:t>
            </a:r>
            <a:r>
              <a:rPr sz="3950" spc="-60" dirty="0"/>
              <a:t> </a:t>
            </a:r>
            <a:r>
              <a:rPr sz="3950" spc="-10" dirty="0"/>
              <a:t>DIAGRAM</a:t>
            </a:r>
            <a:endParaRPr sz="3950" dirty="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-12-</a:t>
            </a:r>
            <a:r>
              <a:rPr spc="-20" dirty="0"/>
              <a:t>202</a:t>
            </a:r>
            <a:r>
              <a:rPr lang="en-IN" spc="-20" dirty="0"/>
              <a:t>5</a:t>
            </a:r>
            <a:endParaRPr spc="-20" dirty="0"/>
          </a:p>
        </p:txBody>
      </p:sp>
      <p:sp>
        <p:nvSpPr>
          <p:cNvPr id="5" name="object 5"/>
          <p:cNvSpPr txBox="1"/>
          <p:nvPr/>
        </p:nvSpPr>
        <p:spPr>
          <a:xfrm>
            <a:off x="4429378" y="6451049"/>
            <a:ext cx="904622"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6" name="object 6"/>
          <p:cNvSpPr txBox="1">
            <a:spLocks noGrp="1"/>
          </p:cNvSpPr>
          <p:nvPr>
            <p:ph type="ftr" sz="quarter" idx="5"/>
          </p:nvPr>
        </p:nvSpPr>
        <p:spPr>
          <a:xfrm>
            <a:off x="5334000" y="6451049"/>
            <a:ext cx="1075770" cy="179536"/>
          </a:xfrm>
          <a:prstGeom prst="rect">
            <a:avLst/>
          </a:prstGeom>
        </p:spPr>
        <p:txBody>
          <a:bodyPr vert="horz" wrap="square" lIns="0" tIns="0" rIns="0" bIns="0" rtlCol="0">
            <a:spAutoFit/>
          </a:bodyPr>
          <a:lstStyle/>
          <a:p>
            <a:pPr marL="12700">
              <a:lnSpc>
                <a:spcPts val="1410"/>
              </a:lnSpc>
            </a:pPr>
            <a:r>
              <a:rPr lang="en-IN" dirty="0"/>
              <a:t>Batch No.DB13</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8</a:t>
            </a:fld>
            <a:endParaRPr spc="-25" dirty="0"/>
          </a:p>
        </p:txBody>
      </p:sp>
      <p:pic>
        <p:nvPicPr>
          <p:cNvPr id="10" name="Picture 9">
            <a:extLst>
              <a:ext uri="{FF2B5EF4-FFF2-40B4-BE49-F238E27FC236}">
                <a16:creationId xmlns:a16="http://schemas.microsoft.com/office/drawing/2014/main" id="{402F37CC-47DA-5EB7-6F70-710FF1B53F33}"/>
              </a:ext>
            </a:extLst>
          </p:cNvPr>
          <p:cNvPicPr>
            <a:picLocks noChangeAspect="1"/>
          </p:cNvPicPr>
          <p:nvPr/>
        </p:nvPicPr>
        <p:blipFill>
          <a:blip r:embed="rId2"/>
          <a:stretch>
            <a:fillRect/>
          </a:stretch>
        </p:blipFill>
        <p:spPr>
          <a:xfrm>
            <a:off x="3622001" y="1219200"/>
            <a:ext cx="4143953" cy="50534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6874" y="554180"/>
            <a:ext cx="10101072" cy="1200005"/>
          </a:xfrm>
          <a:prstGeom prst="rect">
            <a:avLst/>
          </a:prstGeom>
        </p:spPr>
        <p:txBody>
          <a:bodyPr vert="horz" wrap="square" lIns="0" tIns="262889" rIns="0" bIns="0" rtlCol="0">
            <a:spAutoFit/>
          </a:bodyPr>
          <a:lstStyle/>
          <a:p>
            <a:pPr marL="2910205">
              <a:lnSpc>
                <a:spcPct val="100000"/>
              </a:lnSpc>
              <a:spcBef>
                <a:spcPts val="130"/>
              </a:spcBef>
            </a:pPr>
            <a:r>
              <a:rPr spc="-10" dirty="0"/>
              <a:t>METHODOLOGY</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-12-</a:t>
            </a:r>
            <a:r>
              <a:rPr spc="-20" dirty="0"/>
              <a:t>202</a:t>
            </a:r>
            <a:r>
              <a:rPr lang="en-IN" spc="-20" dirty="0"/>
              <a:t>5</a:t>
            </a:r>
            <a:endParaRPr spc="-20" dirty="0"/>
          </a:p>
        </p:txBody>
      </p:sp>
      <p:sp>
        <p:nvSpPr>
          <p:cNvPr id="5" name="object 5"/>
          <p:cNvSpPr txBox="1"/>
          <p:nvPr/>
        </p:nvSpPr>
        <p:spPr>
          <a:xfrm>
            <a:off x="4429378" y="6451049"/>
            <a:ext cx="828422"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6" name="object 6"/>
          <p:cNvSpPr txBox="1">
            <a:spLocks noGrp="1"/>
          </p:cNvSpPr>
          <p:nvPr>
            <p:ph type="ftr" sz="quarter" idx="5"/>
          </p:nvPr>
        </p:nvSpPr>
        <p:spPr>
          <a:xfrm>
            <a:off x="5334000" y="6451049"/>
            <a:ext cx="1143000" cy="179536"/>
          </a:xfrm>
          <a:prstGeom prst="rect">
            <a:avLst/>
          </a:prstGeom>
        </p:spPr>
        <p:txBody>
          <a:bodyPr vert="horz" wrap="square" lIns="0" tIns="0" rIns="0" bIns="0" rtlCol="0">
            <a:spAutoFit/>
          </a:bodyPr>
          <a:lstStyle/>
          <a:p>
            <a:pPr marL="12700">
              <a:lnSpc>
                <a:spcPts val="1410"/>
              </a:lnSpc>
            </a:pPr>
            <a:r>
              <a:rPr lang="en-IN" dirty="0"/>
              <a:t>Batch No.DB13</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9</a:t>
            </a:fld>
            <a:endParaRPr spc="-25" dirty="0"/>
          </a:p>
        </p:txBody>
      </p:sp>
      <p:sp>
        <p:nvSpPr>
          <p:cNvPr id="3" name="object 3"/>
          <p:cNvSpPr txBox="1"/>
          <p:nvPr/>
        </p:nvSpPr>
        <p:spPr>
          <a:xfrm>
            <a:off x="1828800" y="1981200"/>
            <a:ext cx="7845425" cy="3335785"/>
          </a:xfrm>
          <a:prstGeom prst="rect">
            <a:avLst/>
          </a:prstGeom>
        </p:spPr>
        <p:txBody>
          <a:bodyPr vert="horz" wrap="square" lIns="0" tIns="60960" rIns="0" bIns="0" rtlCol="0">
            <a:spAutoFit/>
          </a:bodyPr>
          <a:lstStyle/>
          <a:p>
            <a:pPr marL="285750" indent="-285750">
              <a:lnSpc>
                <a:spcPct val="150000"/>
              </a:lnSpc>
              <a:buClrTx/>
              <a:buFont typeface="Arial" panose="020B0604020202020204" pitchFamily="34" charset="0"/>
              <a:buChar char="•"/>
            </a:pPr>
            <a:r>
              <a:rPr lang="en-US"/>
              <a:t>Built using PyTorch 2.x and HuggingFace Transformers framework.</a:t>
            </a:r>
          </a:p>
          <a:p>
            <a:pPr marL="285750" indent="-285750">
              <a:lnSpc>
                <a:spcPct val="150000"/>
              </a:lnSpc>
              <a:buClrTx/>
              <a:buFont typeface="Arial" panose="020B0604020202020204" pitchFamily="34" charset="0"/>
              <a:buChar char="•"/>
            </a:pPr>
            <a:r>
              <a:rPr lang="en-US"/>
              <a:t>Supported on both local GPU and cloud (Google Colab Pro+) environments.</a:t>
            </a:r>
          </a:p>
          <a:p>
            <a:pPr marL="285750" indent="-285750">
              <a:lnSpc>
                <a:spcPct val="150000"/>
              </a:lnSpc>
              <a:buClrTx/>
              <a:buFont typeface="Arial" panose="020B0604020202020204" pitchFamily="34" charset="0"/>
              <a:buChar char="•"/>
            </a:pPr>
            <a:r>
              <a:rPr lang="en-US"/>
              <a:t>Dataset: RSICD with 10 K images, 5 captions each, across 30 categories.</a:t>
            </a:r>
          </a:p>
          <a:p>
            <a:pPr marL="285750" indent="-285750">
              <a:lnSpc>
                <a:spcPct val="150000"/>
              </a:lnSpc>
              <a:buClrTx/>
              <a:buFont typeface="Arial" panose="020B0604020202020204" pitchFamily="34" charset="0"/>
              <a:buChar char="•"/>
            </a:pPr>
            <a:r>
              <a:rPr lang="en-IN"/>
              <a:t>Preprocessing ensures consistent input dimensions and normalization.</a:t>
            </a:r>
          </a:p>
          <a:p>
            <a:pPr marL="285750" indent="-285750">
              <a:lnSpc>
                <a:spcPct val="150000"/>
              </a:lnSpc>
              <a:buClrTx/>
              <a:buFont typeface="Arial" panose="020B0604020202020204" pitchFamily="34" charset="0"/>
              <a:buChar char="•"/>
            </a:pPr>
            <a:r>
              <a:rPr lang="en-US"/>
              <a:t>Caption generation done independently by BLIP and Kosmos-2 models.</a:t>
            </a:r>
          </a:p>
          <a:p>
            <a:pPr marL="285750" indent="-285750">
              <a:lnSpc>
                <a:spcPct val="150000"/>
              </a:lnSpc>
              <a:buClrTx/>
              <a:buFont typeface="Arial" panose="020B0604020202020204" pitchFamily="34" charset="0"/>
              <a:buChar char="•"/>
            </a:pPr>
            <a:r>
              <a:rPr lang="en-US"/>
              <a:t>Token overlap and linguistic quality determine final caption.</a:t>
            </a:r>
          </a:p>
          <a:p>
            <a:pPr marL="285750" indent="-285750">
              <a:lnSpc>
                <a:spcPct val="150000"/>
              </a:lnSpc>
              <a:buClrTx/>
              <a:buFont typeface="Arial" panose="020B0604020202020204" pitchFamily="34" charset="0"/>
              <a:buChar char="•"/>
            </a:pPr>
            <a:r>
              <a:rPr lang="en-US"/>
              <a:t>Modular structure allows integration of additional models easily.</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464" y="0"/>
            <a:ext cx="10101072" cy="1200005"/>
          </a:xfrm>
          <a:prstGeom prst="rect">
            <a:avLst/>
          </a:prstGeom>
        </p:spPr>
        <p:txBody>
          <a:bodyPr vert="horz" wrap="square" lIns="0" tIns="262889" rIns="0" bIns="0" rtlCol="0">
            <a:spAutoFit/>
          </a:bodyPr>
          <a:lstStyle/>
          <a:p>
            <a:pPr marL="2595880">
              <a:lnSpc>
                <a:spcPct val="100000"/>
              </a:lnSpc>
              <a:spcBef>
                <a:spcPts val="130"/>
              </a:spcBef>
            </a:pPr>
            <a:r>
              <a:rPr spc="-45" dirty="0"/>
              <a:t>IMPLEMENTATION</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-12-</a:t>
            </a:r>
            <a:r>
              <a:rPr spc="-20" dirty="0"/>
              <a:t>202</a:t>
            </a:r>
            <a:r>
              <a:rPr lang="en-IN" spc="-20" dirty="0"/>
              <a:t>5</a:t>
            </a:r>
            <a:endParaRPr spc="-20" dirty="0"/>
          </a:p>
        </p:txBody>
      </p:sp>
      <p:sp>
        <p:nvSpPr>
          <p:cNvPr id="5" name="object 5"/>
          <p:cNvSpPr txBox="1"/>
          <p:nvPr/>
        </p:nvSpPr>
        <p:spPr>
          <a:xfrm>
            <a:off x="4429378" y="6451049"/>
            <a:ext cx="82842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a:t>
            </a:r>
            <a:r>
              <a:rPr lang="en-IN" sz="1200" spc="-30" dirty="0">
                <a:solidFill>
                  <a:srgbClr val="888888"/>
                </a:solidFill>
                <a:latin typeface="Times New Roman"/>
                <a:cs typeface="Times New Roman"/>
              </a:rPr>
              <a:t> </a:t>
            </a:r>
            <a:r>
              <a:rPr lang="en-IN" sz="1200" spc="-25" dirty="0">
                <a:solidFill>
                  <a:srgbClr val="888888"/>
                </a:solidFill>
                <a:latin typeface="Times New Roman"/>
                <a:cs typeface="Times New Roman"/>
              </a:rPr>
              <a:t>No.1</a:t>
            </a:r>
            <a:endParaRPr lang="en-IN" sz="1200" dirty="0">
              <a:latin typeface="Times New Roman"/>
              <a:cs typeface="Times New Roman"/>
            </a:endParaRPr>
          </a:p>
        </p:txBody>
      </p:sp>
      <p:sp>
        <p:nvSpPr>
          <p:cNvPr id="6" name="object 6"/>
          <p:cNvSpPr txBox="1">
            <a:spLocks noGrp="1"/>
          </p:cNvSpPr>
          <p:nvPr>
            <p:ph type="ftr" sz="quarter" idx="5"/>
          </p:nvPr>
        </p:nvSpPr>
        <p:spPr>
          <a:xfrm>
            <a:off x="5505148" y="6451049"/>
            <a:ext cx="1037796" cy="179536"/>
          </a:xfrm>
          <a:prstGeom prst="rect">
            <a:avLst/>
          </a:prstGeom>
        </p:spPr>
        <p:txBody>
          <a:bodyPr vert="horz" wrap="square" lIns="0" tIns="0" rIns="0" bIns="0" rtlCol="0">
            <a:spAutoFit/>
          </a:bodyPr>
          <a:lstStyle/>
          <a:p>
            <a:pPr marL="12700">
              <a:lnSpc>
                <a:spcPts val="1410"/>
              </a:lnSpc>
            </a:pPr>
            <a:r>
              <a:rPr lang="en-IN" dirty="0"/>
              <a:t>Batch No. DB13</a:t>
            </a:r>
            <a:endParaRPr lang="en-IN"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10</a:t>
            </a:fld>
            <a:endParaRPr spc="-25" dirty="0"/>
          </a:p>
        </p:txBody>
      </p:sp>
      <p:sp>
        <p:nvSpPr>
          <p:cNvPr id="3" name="object 3"/>
          <p:cNvSpPr txBox="1"/>
          <p:nvPr/>
        </p:nvSpPr>
        <p:spPr>
          <a:xfrm>
            <a:off x="609600" y="713581"/>
            <a:ext cx="11277600" cy="5827236"/>
          </a:xfrm>
          <a:prstGeom prst="rect">
            <a:avLst/>
          </a:prstGeom>
        </p:spPr>
        <p:txBody>
          <a:bodyPr vert="horz" wrap="square" lIns="0" tIns="60960" rIns="0" bIns="0" rtlCol="0">
            <a:spAutoFit/>
          </a:bodyPr>
          <a:lstStyle/>
          <a:p>
            <a:pPr marL="285750" indent="-285750">
              <a:lnSpc>
                <a:spcPct val="150000"/>
              </a:lnSpc>
              <a:buFont typeface="Arial" panose="020B0604020202020204" pitchFamily="34" charset="0"/>
              <a:buChar char="•"/>
            </a:pPr>
            <a:r>
              <a:rPr lang="en-IN" b="1" dirty="0"/>
              <a:t>Data Collection</a:t>
            </a:r>
            <a:br>
              <a:rPr lang="en-IN" dirty="0"/>
            </a:br>
            <a:r>
              <a:rPr lang="en-IN" dirty="0"/>
              <a:t>RSICD dataset with image–caption pairs divided into 70% train, 15% validation, and 15% test splits.</a:t>
            </a:r>
          </a:p>
          <a:p>
            <a:pPr marL="285750" indent="-285750">
              <a:lnSpc>
                <a:spcPct val="150000"/>
              </a:lnSpc>
              <a:buFont typeface="Arial" panose="020B0604020202020204" pitchFamily="34" charset="0"/>
              <a:buChar char="•"/>
            </a:pPr>
            <a:r>
              <a:rPr lang="en-IN" b="1" dirty="0"/>
              <a:t>Image Preprocessing</a:t>
            </a:r>
            <a:br>
              <a:rPr lang="en-IN" dirty="0"/>
            </a:br>
            <a:r>
              <a:rPr lang="en-IN" dirty="0"/>
              <a:t>All images resized to 224×224 pixels and normalized using ImageNet mean and standard deviation.</a:t>
            </a:r>
          </a:p>
          <a:p>
            <a:pPr marL="285750" indent="-285750">
              <a:lnSpc>
                <a:spcPct val="150000"/>
              </a:lnSpc>
              <a:buFont typeface="Arial" panose="020B0604020202020204" pitchFamily="34" charset="0"/>
              <a:buChar char="•"/>
            </a:pPr>
            <a:r>
              <a:rPr lang="en-IN" b="1" dirty="0"/>
              <a:t>Text Preprocessing</a:t>
            </a:r>
            <a:br>
              <a:rPr lang="en-IN" dirty="0"/>
            </a:br>
            <a:r>
              <a:rPr lang="en-IN" dirty="0"/>
              <a:t>Captions cleaned, tokenized, and encoded using BLIP and Kosmos-2 text tokenizers.</a:t>
            </a:r>
          </a:p>
          <a:p>
            <a:pPr marL="285750" indent="-285750">
              <a:lnSpc>
                <a:spcPct val="150000"/>
              </a:lnSpc>
              <a:buFont typeface="Arial" panose="020B0604020202020204" pitchFamily="34" charset="0"/>
              <a:buChar char="•"/>
            </a:pPr>
            <a:r>
              <a:rPr lang="en-IN" b="1" dirty="0"/>
              <a:t>Model Loading</a:t>
            </a:r>
            <a:br>
              <a:rPr lang="en-IN" dirty="0"/>
            </a:br>
            <a:r>
              <a:rPr lang="en-IN" dirty="0"/>
              <a:t>Pretrained BLIP and Kosmos-2 models loaded from Hugging Face and locally saved for efficient inference.</a:t>
            </a:r>
          </a:p>
          <a:p>
            <a:pPr marL="285750" indent="-285750">
              <a:lnSpc>
                <a:spcPct val="150000"/>
              </a:lnSpc>
              <a:buFont typeface="Arial" panose="020B0604020202020204" pitchFamily="34" charset="0"/>
              <a:buChar char="•"/>
            </a:pPr>
            <a:r>
              <a:rPr lang="en-IN" b="1" dirty="0"/>
              <a:t>Fusion Strategy</a:t>
            </a:r>
            <a:br>
              <a:rPr lang="en-IN" dirty="0"/>
            </a:br>
            <a:r>
              <a:rPr lang="en-IN" dirty="0"/>
              <a:t>Feature vectors from BLIP and Kosmos-2 fused using attention-based transformer fusion for robust caption</a:t>
            </a:r>
          </a:p>
          <a:p>
            <a:pPr>
              <a:lnSpc>
                <a:spcPct val="150000"/>
              </a:lnSpc>
            </a:pPr>
            <a:r>
              <a:rPr lang="en-IN" dirty="0"/>
              <a:t>    generation.</a:t>
            </a:r>
          </a:p>
          <a:p>
            <a:pPr marL="285750" indent="-285750">
              <a:lnSpc>
                <a:spcPct val="150000"/>
              </a:lnSpc>
              <a:buFont typeface="Arial" panose="020B0604020202020204" pitchFamily="34" charset="0"/>
              <a:buChar char="•"/>
            </a:pPr>
            <a:r>
              <a:rPr lang="en-IN" b="1" dirty="0"/>
              <a:t>Evaluation</a:t>
            </a:r>
            <a:br>
              <a:rPr lang="en-IN" dirty="0"/>
            </a:br>
            <a:r>
              <a:rPr lang="en-IN" dirty="0"/>
              <a:t>Generated captions evaluated using BLEU, ROUGE, </a:t>
            </a:r>
            <a:r>
              <a:rPr lang="en-IN" dirty="0" err="1"/>
              <a:t>CIDEr</a:t>
            </a:r>
            <a:r>
              <a:rPr lang="en-IN" dirty="0"/>
              <a:t>, and METEOR metrics for performance comparison.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2F440C-5DD1-5879-659D-943789749D1B}"/>
              </a:ext>
            </a:extLst>
          </p:cNvPr>
          <p:cNvSpPr txBox="1"/>
          <p:nvPr/>
        </p:nvSpPr>
        <p:spPr>
          <a:xfrm>
            <a:off x="1676400" y="990600"/>
            <a:ext cx="9067800" cy="769441"/>
          </a:xfrm>
          <a:prstGeom prst="rect">
            <a:avLst/>
          </a:prstGeom>
          <a:noFill/>
        </p:spPr>
        <p:txBody>
          <a:bodyPr wrap="square">
            <a:spAutoFit/>
          </a:bodyPr>
          <a:lstStyle/>
          <a:p>
            <a:r>
              <a:rPr lang="en-US" sz="4400" b="1" spc="-10" dirty="0">
                <a:solidFill>
                  <a:schemeClr val="tx1"/>
                </a:solidFill>
                <a:latin typeface="Times New Roman"/>
                <a:ea typeface="+mj-ea"/>
                <a:cs typeface="Times New Roman"/>
              </a:rPr>
              <a:t>PREPROCESSING</a:t>
            </a:r>
            <a:r>
              <a:rPr lang="en-US" sz="4400" spc="-10" dirty="0"/>
              <a:t> </a:t>
            </a:r>
            <a:r>
              <a:rPr lang="en-US" sz="4400" b="1" spc="-10" dirty="0">
                <a:solidFill>
                  <a:schemeClr val="tx1"/>
                </a:solidFill>
                <a:latin typeface="Times New Roman"/>
                <a:ea typeface="+mj-ea"/>
                <a:cs typeface="Times New Roman"/>
              </a:rPr>
              <a:t>TECHNIQUES</a:t>
            </a:r>
            <a:r>
              <a:rPr lang="en-US" sz="4400" spc="-10" dirty="0"/>
              <a:t> </a:t>
            </a:r>
            <a:endParaRPr lang="en-IN" sz="4400" dirty="0"/>
          </a:p>
        </p:txBody>
      </p:sp>
      <p:sp>
        <p:nvSpPr>
          <p:cNvPr id="7" name="Rectangle 1">
            <a:extLst>
              <a:ext uri="{FF2B5EF4-FFF2-40B4-BE49-F238E27FC236}">
                <a16:creationId xmlns:a16="http://schemas.microsoft.com/office/drawing/2014/main" id="{579A0C87-F522-1DB8-22E3-738322A9F2C0}"/>
              </a:ext>
            </a:extLst>
          </p:cNvPr>
          <p:cNvSpPr>
            <a:spLocks noChangeArrowheads="1"/>
          </p:cNvSpPr>
          <p:nvPr/>
        </p:nvSpPr>
        <p:spPr bwMode="auto">
          <a:xfrm>
            <a:off x="1143000" y="1915194"/>
            <a:ext cx="9677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Resize images to 224×224 pixels</a:t>
            </a:r>
            <a:r>
              <a:rPr kumimoji="0" lang="en-US" altLang="en-US" b="0" i="0" u="none" strike="noStrike" cap="none" normalizeH="0" baseline="0" dirty="0">
                <a:ln>
                  <a:noFill/>
                </a:ln>
                <a:solidFill>
                  <a:schemeClr val="tx1"/>
                </a:solidFill>
                <a:effectLst/>
                <a:latin typeface="Arial" panose="020B0604020202020204" pitchFamily="34" charset="0"/>
              </a:rPr>
              <a:t> — all input images were rescaled to 224×224 to match the vision-transformer backbones used by the captioning models.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Pixel normalization using ImageNet statistics</a:t>
            </a:r>
            <a:r>
              <a:rPr kumimoji="0" lang="en-US" altLang="en-US" b="0" i="0" u="none" strike="noStrike" cap="none" normalizeH="0" baseline="0" dirty="0">
                <a:ln>
                  <a:noFill/>
                </a:ln>
                <a:solidFill>
                  <a:schemeClr val="tx1"/>
                </a:solidFill>
                <a:effectLst/>
                <a:latin typeface="Arial" panose="020B0604020202020204" pitchFamily="34" charset="0"/>
              </a:rPr>
              <a:t> — image pixel values were normalized with the ImageNet mean and standard deviation (the same normalization used during model pretraining).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Convert images to tensors</a:t>
            </a:r>
            <a:r>
              <a:rPr kumimoji="0" lang="en-US" altLang="en-US" b="0" i="0" u="none" strike="noStrike" cap="none" normalizeH="0" baseline="0" dirty="0">
                <a:ln>
                  <a:noFill/>
                </a:ln>
                <a:solidFill>
                  <a:schemeClr val="tx1"/>
                </a:solidFill>
                <a:effectLst/>
                <a:latin typeface="Arial" panose="020B0604020202020204" pitchFamily="34" charset="0"/>
              </a:rPr>
              <a:t> — after resizing and normalization, images were converted into </a:t>
            </a:r>
            <a:r>
              <a:rPr kumimoji="0" lang="en-US" altLang="en-US" b="0" i="0" u="none" strike="noStrike" cap="none" normalizeH="0" baseline="0" dirty="0" err="1">
                <a:ln>
                  <a:noFill/>
                </a:ln>
                <a:solidFill>
                  <a:schemeClr val="tx1"/>
                </a:solidFill>
                <a:effectLst/>
                <a:latin typeface="Arial" panose="020B0604020202020204" pitchFamily="34" charset="0"/>
              </a:rPr>
              <a:t>PyTorch</a:t>
            </a:r>
            <a:r>
              <a:rPr kumimoji="0" lang="en-US" altLang="en-US" b="0" i="0" u="none" strike="noStrike" cap="none" normalizeH="0" baseline="0" dirty="0">
                <a:ln>
                  <a:noFill/>
                </a:ln>
                <a:solidFill>
                  <a:schemeClr val="tx1"/>
                </a:solidFill>
                <a:effectLst/>
                <a:latin typeface="Arial" panose="020B0604020202020204" pitchFamily="34" charset="0"/>
              </a:rPr>
              <a:t> tensors suitable for model input pipelines.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Model-specific tokenization / text preprocessing</a:t>
            </a:r>
            <a:r>
              <a:rPr kumimoji="0" lang="en-US" altLang="en-US" b="0" i="0" u="none" strike="noStrike" cap="none" normalizeH="0" baseline="0" dirty="0">
                <a:ln>
                  <a:noFill/>
                </a:ln>
                <a:solidFill>
                  <a:schemeClr val="tx1"/>
                </a:solidFill>
                <a:effectLst/>
                <a:latin typeface="Arial" panose="020B0604020202020204" pitchFamily="34" charset="0"/>
              </a:rPr>
              <a:t> — each model’s tokenizer was applied to prepare textual inputs/outputs (and captions were tokenized for downstream fusion/token-overlap operations).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Shared input flow for multi-model compatibility</a:t>
            </a:r>
            <a:r>
              <a:rPr kumimoji="0" lang="en-US" altLang="en-US" b="0" i="0" u="none" strike="noStrike" cap="none" normalizeH="0" baseline="0" dirty="0">
                <a:ln>
                  <a:noFill/>
                </a:ln>
                <a:solidFill>
                  <a:schemeClr val="tx1"/>
                </a:solidFill>
                <a:effectLst/>
                <a:latin typeface="Arial" panose="020B0604020202020204" pitchFamily="34" charset="0"/>
              </a:rPr>
              <a:t> — the pipeline was designed so the same preprocessed image tensor can be fed into different pretrained models (BLIP, Kosmos-2, etc.) without altering the core input steps.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Dataset split for training/validation/testing</a:t>
            </a:r>
            <a:r>
              <a:rPr kumimoji="0" lang="en-US" altLang="en-US" b="0" i="0" u="none" strike="noStrike" cap="none" normalizeH="0" baseline="0" dirty="0">
                <a:ln>
                  <a:noFill/>
                </a:ln>
                <a:solidFill>
                  <a:schemeClr val="tx1"/>
                </a:solidFill>
                <a:effectLst/>
                <a:latin typeface="Arial" panose="020B0604020202020204" pitchFamily="34" charset="0"/>
              </a:rPr>
              <a:t> — RSICD was partitioned using a 70:15:15 split (train : </a:t>
            </a:r>
            <a:r>
              <a:rPr kumimoji="0" lang="en-US" altLang="en-US" b="0" i="0" u="none" strike="noStrike" cap="none" normalizeH="0" baseline="0" dirty="0" err="1">
                <a:ln>
                  <a:noFill/>
                </a:ln>
                <a:solidFill>
                  <a:schemeClr val="tx1"/>
                </a:solidFill>
                <a:effectLst/>
                <a:latin typeface="Arial" panose="020B0604020202020204" pitchFamily="34" charset="0"/>
              </a:rPr>
              <a:t>val</a:t>
            </a:r>
            <a:r>
              <a:rPr kumimoji="0" lang="en-US" altLang="en-US" b="0" i="0" u="none" strike="noStrike" cap="none" normalizeH="0" baseline="0" dirty="0">
                <a:ln>
                  <a:noFill/>
                </a:ln>
                <a:solidFill>
                  <a:schemeClr val="tx1"/>
                </a:solidFill>
                <a:effectLst/>
                <a:latin typeface="Arial" panose="020B0604020202020204" pitchFamily="34" charset="0"/>
              </a:rPr>
              <a:t> : test) so preprocessing was applied consistently across each split before caption generation and evaluation. </a:t>
            </a:r>
          </a:p>
        </p:txBody>
      </p:sp>
    </p:spTree>
    <p:extLst>
      <p:ext uri="{BB962C8B-B14F-4D97-AF65-F5344CB8AC3E}">
        <p14:creationId xmlns:p14="http://schemas.microsoft.com/office/powerpoint/2010/main" val="1435281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622510"/>
            <a:ext cx="10101072" cy="1200005"/>
          </a:xfrm>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11-12-</a:t>
            </a:r>
            <a:r>
              <a:rPr lang="en-IN" spc="-20" dirty="0"/>
              <a:t>2025</a:t>
            </a:r>
          </a:p>
        </p:txBody>
      </p:sp>
      <p:sp>
        <p:nvSpPr>
          <p:cNvPr id="5" name="object 5"/>
          <p:cNvSpPr txBox="1"/>
          <p:nvPr/>
        </p:nvSpPr>
        <p:spPr>
          <a:xfrm>
            <a:off x="4429378" y="6451049"/>
            <a:ext cx="90462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a:t>
            </a:r>
            <a:r>
              <a:rPr lang="en-IN" sz="1200" spc="-30" dirty="0">
                <a:solidFill>
                  <a:srgbClr val="888888"/>
                </a:solidFill>
                <a:latin typeface="Times New Roman"/>
                <a:cs typeface="Times New Roman"/>
              </a:rPr>
              <a:t> </a:t>
            </a:r>
            <a:r>
              <a:rPr lang="en-IN" sz="1200" spc="-25" dirty="0">
                <a:solidFill>
                  <a:srgbClr val="888888"/>
                </a:solidFill>
                <a:latin typeface="Times New Roman"/>
                <a:cs typeface="Times New Roman"/>
              </a:rPr>
              <a:t>No.1</a:t>
            </a:r>
            <a:endParaRPr lang="en-IN" sz="1200" dirty="0">
              <a:latin typeface="Times New Roman"/>
              <a:cs typeface="Times New Roman"/>
            </a:endParaRPr>
          </a:p>
        </p:txBody>
      </p:sp>
      <p:sp>
        <p:nvSpPr>
          <p:cNvPr id="6" name="object 6"/>
          <p:cNvSpPr txBox="1">
            <a:spLocks noGrp="1"/>
          </p:cNvSpPr>
          <p:nvPr>
            <p:ph type="ftr" sz="quarter" idx="5"/>
          </p:nvPr>
        </p:nvSpPr>
        <p:spPr>
          <a:xfrm>
            <a:off x="5505148" y="6451049"/>
            <a:ext cx="1037796" cy="179536"/>
          </a:xfrm>
          <a:prstGeom prst="rect">
            <a:avLst/>
          </a:prstGeom>
        </p:spPr>
        <p:txBody>
          <a:bodyPr vert="horz" wrap="square" lIns="0" tIns="0" rIns="0" bIns="0" rtlCol="0">
            <a:spAutoFit/>
          </a:bodyPr>
          <a:lstStyle/>
          <a:p>
            <a:pPr marL="12700">
              <a:lnSpc>
                <a:spcPts val="1410"/>
              </a:lnSpc>
            </a:pPr>
            <a:r>
              <a:rPr lang="en-IN" dirty="0"/>
              <a:t>Batch No. DB13</a:t>
            </a:r>
            <a:endParaRPr lang="en-IN"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12</a:t>
            </a:fld>
            <a:endParaRPr spc="-25" dirty="0"/>
          </a:p>
        </p:txBody>
      </p:sp>
      <p:sp>
        <p:nvSpPr>
          <p:cNvPr id="3" name="object 3"/>
          <p:cNvSpPr txBox="1"/>
          <p:nvPr/>
        </p:nvSpPr>
        <p:spPr>
          <a:xfrm>
            <a:off x="685800" y="1822515"/>
            <a:ext cx="7281926" cy="3789435"/>
          </a:xfrm>
          <a:prstGeom prst="rect">
            <a:avLst/>
          </a:prstGeom>
        </p:spPr>
        <p:txBody>
          <a:bodyPr vert="horz" wrap="square" lIns="0" tIns="99060" rIns="0" bIns="0" rtlCol="0">
            <a:spAutoFit/>
          </a:bodyPr>
          <a:lstStyle/>
          <a:p>
            <a:pPr marL="285750" indent="-285750">
              <a:lnSpc>
                <a:spcPct val="150000"/>
              </a:lnSpc>
              <a:buClrTx/>
              <a:buFont typeface="Arial" panose="020B0604020202020204" pitchFamily="34" charset="0"/>
              <a:buChar char="•"/>
            </a:pPr>
            <a:r>
              <a:rPr lang="en-US" dirty="0"/>
              <a:t>Ensemble model achieved BLEU-1 = 0.68 and SPICE = 0.38.</a:t>
            </a:r>
          </a:p>
          <a:p>
            <a:pPr marL="285750" indent="-285750">
              <a:lnSpc>
                <a:spcPct val="150000"/>
              </a:lnSpc>
              <a:buClrTx/>
              <a:buFont typeface="Arial" panose="020B0604020202020204" pitchFamily="34" charset="0"/>
              <a:buChar char="•"/>
            </a:pPr>
            <a:r>
              <a:rPr lang="en-US" dirty="0"/>
              <a:t>Outperformed BLIP (0.63) and Kosmos-2 (0.64) individually.</a:t>
            </a:r>
          </a:p>
          <a:p>
            <a:pPr marL="285750" indent="-285750">
              <a:lnSpc>
                <a:spcPct val="150000"/>
              </a:lnSpc>
              <a:buClrTx/>
              <a:buFont typeface="Arial" panose="020B0604020202020204" pitchFamily="34" charset="0"/>
              <a:buChar char="•"/>
            </a:pPr>
            <a:r>
              <a:rPr lang="en-US" dirty="0"/>
              <a:t>Higher scores in METEOR and </a:t>
            </a:r>
            <a:r>
              <a:rPr lang="en-US" dirty="0" err="1"/>
              <a:t>CIDEr</a:t>
            </a:r>
            <a:r>
              <a:rPr lang="en-US" dirty="0"/>
              <a:t> show better semantic alignment.</a:t>
            </a:r>
          </a:p>
          <a:p>
            <a:pPr marL="285750" indent="-285750">
              <a:lnSpc>
                <a:spcPct val="150000"/>
              </a:lnSpc>
              <a:buClrTx/>
              <a:buFont typeface="Arial" panose="020B0604020202020204" pitchFamily="34" charset="0"/>
              <a:buChar char="•"/>
            </a:pPr>
            <a:r>
              <a:rPr lang="en-US" dirty="0"/>
              <a:t>Visual results reveal smoother, more descriptive captions.</a:t>
            </a:r>
          </a:p>
          <a:p>
            <a:pPr marL="285750" indent="-285750">
              <a:lnSpc>
                <a:spcPct val="150000"/>
              </a:lnSpc>
              <a:buClrTx/>
              <a:buFont typeface="Arial" panose="020B0604020202020204" pitchFamily="34" charset="0"/>
              <a:buChar char="•"/>
            </a:pPr>
            <a:r>
              <a:rPr lang="en-US" dirty="0"/>
              <a:t>Captions maintained contextual meaning across varied scene categories.</a:t>
            </a:r>
          </a:p>
          <a:p>
            <a:pPr marL="285750" indent="-285750">
              <a:lnSpc>
                <a:spcPct val="150000"/>
              </a:lnSpc>
              <a:buClrTx/>
              <a:buFont typeface="Arial" panose="020B0604020202020204" pitchFamily="34" charset="0"/>
              <a:buChar char="•"/>
            </a:pPr>
            <a:r>
              <a:rPr lang="en-US" dirty="0"/>
              <a:t>BLEU improvements indicate better word-level fluency.</a:t>
            </a:r>
          </a:p>
          <a:p>
            <a:pPr marL="285750" indent="-285750">
              <a:lnSpc>
                <a:spcPct val="150000"/>
              </a:lnSpc>
              <a:buClrTx/>
              <a:buFont typeface="Arial" panose="020B0604020202020204" pitchFamily="34" charset="0"/>
              <a:buChar char="•"/>
            </a:pPr>
            <a:r>
              <a:rPr lang="en-US" dirty="0"/>
              <a:t>Ensemble approach proved stable and reliable for remote sensing.</a:t>
            </a:r>
            <a:endParaRPr lang="en-IN" altLang="en-US" dirty="0">
              <a:latin typeface="Times New Roman" panose="02020603050405020304" pitchFamily="18" charset="0"/>
              <a:cs typeface="Times New Roman" panose="02020603050405020304" pitchFamily="18" charset="0"/>
            </a:endParaRPr>
          </a:p>
        </p:txBody>
      </p:sp>
      <p:pic>
        <p:nvPicPr>
          <p:cNvPr id="14" name="Picture 13" descr="A blue pie chart with a number of blue and black text&#10;&#10;AI-generated content may be incorrect.">
            <a:extLst>
              <a:ext uri="{FF2B5EF4-FFF2-40B4-BE49-F238E27FC236}">
                <a16:creationId xmlns:a16="http://schemas.microsoft.com/office/drawing/2014/main" id="{A18AB33B-87A1-F2DF-41CE-A7515F4275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84351" y="1222512"/>
            <a:ext cx="2107905" cy="2012272"/>
          </a:xfrm>
          <a:prstGeom prst="rect">
            <a:avLst/>
          </a:prstGeom>
        </p:spPr>
      </p:pic>
      <p:pic>
        <p:nvPicPr>
          <p:cNvPr id="16" name="Picture 15" descr="A graph with blue squares&#10;&#10;AI-generated content may be incorrect.">
            <a:extLst>
              <a:ext uri="{FF2B5EF4-FFF2-40B4-BE49-F238E27FC236}">
                <a16:creationId xmlns:a16="http://schemas.microsoft.com/office/drawing/2014/main" id="{B7043F05-F741-037C-B144-D477C9907B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0" y="3316083"/>
            <a:ext cx="3835917" cy="26475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7575" y="666296"/>
            <a:ext cx="10101072" cy="1200005"/>
          </a:xfrm>
          <a:prstGeom prst="rect">
            <a:avLst/>
          </a:prstGeom>
        </p:spPr>
        <p:txBody>
          <a:bodyPr vert="horz" wrap="square" lIns="0" tIns="262889" rIns="0" bIns="0" rtlCol="0">
            <a:spAutoFit/>
          </a:bodyPr>
          <a:lstStyle/>
          <a:p>
            <a:pPr marL="588010">
              <a:lnSpc>
                <a:spcPct val="100000"/>
              </a:lnSpc>
              <a:spcBef>
                <a:spcPts val="130"/>
              </a:spcBef>
            </a:pPr>
            <a:r>
              <a:rPr dirty="0"/>
              <a:t>CONCLUSION</a:t>
            </a:r>
            <a:r>
              <a:rPr spc="-140" dirty="0"/>
              <a:t> </a:t>
            </a:r>
            <a:r>
              <a:rPr dirty="0"/>
              <a:t>and</a:t>
            </a:r>
            <a:r>
              <a:rPr spc="-85" dirty="0"/>
              <a:t> </a:t>
            </a:r>
            <a:r>
              <a:rPr dirty="0"/>
              <a:t>FUTURE</a:t>
            </a:r>
            <a:r>
              <a:rPr spc="-120" dirty="0"/>
              <a:t> </a:t>
            </a:r>
            <a:r>
              <a:rPr spc="-10" dirty="0"/>
              <a:t>SCOPE</a:t>
            </a:r>
          </a:p>
        </p:txBody>
      </p:sp>
      <p:sp>
        <p:nvSpPr>
          <p:cNvPr id="4" name="object 4"/>
          <p:cNvSpPr txBox="1">
            <a:spLocks noGrp="1"/>
          </p:cNvSpPr>
          <p:nvPr>
            <p:ph type="dt" sz="half" idx="6"/>
          </p:nvPr>
        </p:nvSpPr>
        <p:spPr>
          <a:xfrm>
            <a:off x="917575" y="6451049"/>
            <a:ext cx="737235" cy="359073"/>
          </a:xfrm>
          <a:prstGeom prst="rect">
            <a:avLst/>
          </a:prstGeom>
        </p:spPr>
        <p:txBody>
          <a:bodyPr vert="horz" wrap="square" lIns="0" tIns="0" rIns="0" bIns="0" rtlCol="0">
            <a:spAutoFit/>
          </a:bodyPr>
          <a:lstStyle/>
          <a:p>
            <a:pPr marL="12700">
              <a:lnSpc>
                <a:spcPts val="1410"/>
              </a:lnSpc>
            </a:pPr>
            <a:r>
              <a:rPr lang="en-IN" spc="-10" dirty="0"/>
              <a:t>11-12-</a:t>
            </a:r>
            <a:r>
              <a:rPr lang="en-IN" spc="-20" dirty="0"/>
              <a:t>2025</a:t>
            </a:r>
          </a:p>
          <a:p>
            <a:pPr marL="12700">
              <a:lnSpc>
                <a:spcPts val="1410"/>
              </a:lnSpc>
            </a:pPr>
            <a:endParaRPr spc="-20" dirty="0"/>
          </a:p>
        </p:txBody>
      </p:sp>
      <p:sp>
        <p:nvSpPr>
          <p:cNvPr id="5" name="object 5"/>
          <p:cNvSpPr txBox="1"/>
          <p:nvPr/>
        </p:nvSpPr>
        <p:spPr>
          <a:xfrm>
            <a:off x="4429378" y="6451049"/>
            <a:ext cx="90462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a:t>
            </a:r>
            <a:r>
              <a:rPr lang="en-IN" sz="1200" spc="-30" dirty="0">
                <a:solidFill>
                  <a:srgbClr val="888888"/>
                </a:solidFill>
                <a:latin typeface="Times New Roman"/>
                <a:cs typeface="Times New Roman"/>
              </a:rPr>
              <a:t> </a:t>
            </a:r>
            <a:r>
              <a:rPr lang="en-IN" sz="1200" spc="-25" dirty="0">
                <a:solidFill>
                  <a:srgbClr val="888888"/>
                </a:solidFill>
                <a:latin typeface="Times New Roman"/>
                <a:cs typeface="Times New Roman"/>
              </a:rPr>
              <a:t>No.1</a:t>
            </a:r>
            <a:endParaRPr lang="en-IN" sz="1200" dirty="0">
              <a:latin typeface="Times New Roman"/>
              <a:cs typeface="Times New Roman"/>
            </a:endParaRPr>
          </a:p>
        </p:txBody>
      </p:sp>
      <p:sp>
        <p:nvSpPr>
          <p:cNvPr id="6" name="object 6"/>
          <p:cNvSpPr txBox="1">
            <a:spLocks noGrp="1"/>
          </p:cNvSpPr>
          <p:nvPr>
            <p:ph type="ftr" sz="quarter" idx="5"/>
          </p:nvPr>
        </p:nvSpPr>
        <p:spPr>
          <a:xfrm>
            <a:off x="5505148" y="6451049"/>
            <a:ext cx="1037796" cy="179536"/>
          </a:xfrm>
          <a:prstGeom prst="rect">
            <a:avLst/>
          </a:prstGeom>
        </p:spPr>
        <p:txBody>
          <a:bodyPr vert="horz" wrap="square" lIns="0" tIns="0" rIns="0" bIns="0" rtlCol="0">
            <a:spAutoFit/>
          </a:bodyPr>
          <a:lstStyle/>
          <a:p>
            <a:pPr marL="12700">
              <a:lnSpc>
                <a:spcPts val="1410"/>
              </a:lnSpc>
            </a:pPr>
            <a:r>
              <a:rPr lang="en-IN" dirty="0"/>
              <a:t>Batch No. DB13</a:t>
            </a:r>
            <a:endParaRPr lang="en-IN"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13</a:t>
            </a:fld>
            <a:endParaRPr spc="-25" dirty="0"/>
          </a:p>
        </p:txBody>
      </p:sp>
      <p:sp>
        <p:nvSpPr>
          <p:cNvPr id="3" name="object 3"/>
          <p:cNvSpPr txBox="1">
            <a:spLocks noGrp="1"/>
          </p:cNvSpPr>
          <p:nvPr>
            <p:ph type="body" idx="1"/>
          </p:nvPr>
        </p:nvSpPr>
        <p:spPr>
          <a:xfrm>
            <a:off x="2140013" y="2108173"/>
            <a:ext cx="7656196" cy="3019866"/>
          </a:xfrm>
          <a:prstGeom prst="rect">
            <a:avLst/>
          </a:prstGeom>
        </p:spPr>
        <p:txBody>
          <a:bodyPr vert="horz" wrap="square" lIns="0" tIns="99060" rIns="0" bIns="0" rtlCol="0">
            <a:spAutoFit/>
          </a:bodyPr>
          <a:lstStyle/>
          <a:p>
            <a:pPr marL="241300" indent="-228600">
              <a:lnSpc>
                <a:spcPct val="150000"/>
              </a:lnSpc>
              <a:spcBef>
                <a:spcPts val="780"/>
              </a:spcBef>
              <a:buFont typeface="Arial MT"/>
              <a:buChar char="•"/>
              <a:tabLst>
                <a:tab pos="241300" algn="l"/>
              </a:tabLst>
            </a:pPr>
            <a:r>
              <a:rPr lang="en-IN" sz="2000" dirty="0"/>
              <a:t>Ensemble fusion enhances caption quality and context accuracy.</a:t>
            </a:r>
          </a:p>
          <a:p>
            <a:pPr marL="241300" indent="-228600">
              <a:lnSpc>
                <a:spcPct val="150000"/>
              </a:lnSpc>
              <a:spcBef>
                <a:spcPts val="780"/>
              </a:spcBef>
              <a:buFont typeface="Arial MT"/>
              <a:buChar char="•"/>
              <a:tabLst>
                <a:tab pos="241300" algn="l"/>
              </a:tabLst>
            </a:pPr>
            <a:r>
              <a:rPr lang="en-US" sz="2000" dirty="0"/>
              <a:t>Modular and training-free design enables easy integration of new models.</a:t>
            </a:r>
          </a:p>
          <a:p>
            <a:pPr marL="241300" indent="-228600">
              <a:lnSpc>
                <a:spcPct val="150000"/>
              </a:lnSpc>
              <a:spcBef>
                <a:spcPts val="780"/>
              </a:spcBef>
              <a:buFont typeface="Arial MT"/>
              <a:buChar char="•"/>
              <a:tabLst>
                <a:tab pos="241300" algn="l"/>
              </a:tabLst>
            </a:pPr>
            <a:r>
              <a:rPr lang="en-US" sz="2000" dirty="0"/>
              <a:t>Achieved improvements across all major evaluation metrics. Future work includes CLIP-based semantic scoring for fusion. Expansion to multilingual and temporal (video) captioning tasks.</a:t>
            </a:r>
            <a:endParaRPr sz="2000" spc="-1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p>
        </p:txBody>
      </p:sp>
      <p:sp>
        <p:nvSpPr>
          <p:cNvPr id="4" name="object 4"/>
          <p:cNvSpPr txBox="1">
            <a:spLocks noGrp="1"/>
          </p:cNvSpPr>
          <p:nvPr>
            <p:ph type="dt" sz="half" idx="6"/>
          </p:nvPr>
        </p:nvSpPr>
        <p:spPr>
          <a:xfrm>
            <a:off x="917575" y="6451049"/>
            <a:ext cx="737235" cy="359073"/>
          </a:xfrm>
          <a:prstGeom prst="rect">
            <a:avLst/>
          </a:prstGeom>
        </p:spPr>
        <p:txBody>
          <a:bodyPr vert="horz" wrap="square" lIns="0" tIns="0" rIns="0" bIns="0" rtlCol="0">
            <a:spAutoFit/>
          </a:bodyPr>
          <a:lstStyle/>
          <a:p>
            <a:pPr marL="12700">
              <a:lnSpc>
                <a:spcPts val="1410"/>
              </a:lnSpc>
            </a:pPr>
            <a:r>
              <a:rPr lang="en-IN" spc="-10" dirty="0"/>
              <a:t>11-12-</a:t>
            </a:r>
            <a:r>
              <a:rPr lang="en-IN" spc="-20" dirty="0"/>
              <a:t>2025</a:t>
            </a:r>
          </a:p>
          <a:p>
            <a:pPr marL="12700">
              <a:lnSpc>
                <a:spcPts val="1410"/>
              </a:lnSpc>
            </a:pPr>
            <a:endParaRPr spc="-20" dirty="0"/>
          </a:p>
        </p:txBody>
      </p:sp>
      <p:sp>
        <p:nvSpPr>
          <p:cNvPr id="5" name="object 5"/>
          <p:cNvSpPr txBox="1"/>
          <p:nvPr/>
        </p:nvSpPr>
        <p:spPr>
          <a:xfrm>
            <a:off x="4429378" y="6451049"/>
            <a:ext cx="904622"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6" name="object 6"/>
          <p:cNvSpPr txBox="1">
            <a:spLocks noGrp="1"/>
          </p:cNvSpPr>
          <p:nvPr>
            <p:ph type="ftr" sz="quarter" idx="5"/>
          </p:nvPr>
        </p:nvSpPr>
        <p:spPr>
          <a:xfrm>
            <a:off x="5505148" y="6451049"/>
            <a:ext cx="1037796" cy="179536"/>
          </a:xfrm>
          <a:prstGeom prst="rect">
            <a:avLst/>
          </a:prstGeom>
        </p:spPr>
        <p:txBody>
          <a:bodyPr vert="horz" wrap="square" lIns="0" tIns="0" rIns="0" bIns="0" rtlCol="0">
            <a:spAutoFit/>
          </a:bodyPr>
          <a:lstStyle/>
          <a:p>
            <a:pPr marL="12700">
              <a:lnSpc>
                <a:spcPts val="1410"/>
              </a:lnSpc>
            </a:pPr>
            <a:r>
              <a:rPr lang="en-IN" dirty="0"/>
              <a:t>Batch No. DB13</a:t>
            </a:r>
            <a:endParaRPr lang="en-IN"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14</a:t>
            </a:fld>
            <a:endParaRPr spc="-25" dirty="0"/>
          </a:p>
        </p:txBody>
      </p:sp>
      <p:sp>
        <p:nvSpPr>
          <p:cNvPr id="3" name="object 3"/>
          <p:cNvSpPr txBox="1"/>
          <p:nvPr/>
        </p:nvSpPr>
        <p:spPr>
          <a:xfrm>
            <a:off x="1045463" y="1676400"/>
            <a:ext cx="10360025" cy="4535857"/>
          </a:xfrm>
          <a:prstGeom prst="rect">
            <a:avLst/>
          </a:prstGeom>
        </p:spPr>
        <p:txBody>
          <a:bodyPr vert="horz" wrap="square" lIns="0" tIns="16510" rIns="0" bIns="0" rtlCol="0">
            <a:spAutoFit/>
          </a:bodyPr>
          <a:lstStyle/>
          <a:p>
            <a:pPr marL="285750" lvl="0" indent="-285750">
              <a:lnSpc>
                <a:spcPct val="150000"/>
              </a:lnSpc>
              <a:buFont typeface="Arial" panose="020B0604020202020204" pitchFamily="34" charset="0"/>
              <a:buChar char="•"/>
            </a:pPr>
            <a:r>
              <a:rPr lang="en-US" sz="1600" dirty="0"/>
              <a:t>X. Lu, Z. Wang, and X. Zheng, “RSICD: Remote sensing image caption dataset,” </a:t>
            </a:r>
            <a:r>
              <a:rPr lang="en-US" sz="1600" i="1" dirty="0"/>
              <a:t>IEEE Journal of Selected Topics in Applied Earth Observations and Remote Sensing</a:t>
            </a:r>
            <a:r>
              <a:rPr lang="en-US" sz="1600" dirty="0"/>
              <a:t>, vol. 10, no. 8, pp. 3718–3729, 2017.</a:t>
            </a:r>
          </a:p>
          <a:p>
            <a:pPr marL="285750" lvl="0" indent="-285750">
              <a:lnSpc>
                <a:spcPct val="150000"/>
              </a:lnSpc>
              <a:buFont typeface="Arial" panose="020B0604020202020204" pitchFamily="34" charset="0"/>
              <a:buChar char="•"/>
            </a:pPr>
            <a:r>
              <a:rPr lang="en-US" sz="1600" dirty="0"/>
              <a:t>G. Cheng, J. Han, and X. Lu, “Remote sensing image scene classification: Benchmark and state of the art,” </a:t>
            </a:r>
            <a:r>
              <a:rPr lang="en-US" sz="1600" i="1" dirty="0"/>
              <a:t>Proceedings of the IEEE</a:t>
            </a:r>
            <a:r>
              <a:rPr lang="en-US" sz="1600" dirty="0"/>
              <a:t>, vol. 105, no. 10, pp. 1865–1883, 2017.</a:t>
            </a:r>
          </a:p>
          <a:p>
            <a:pPr marL="285750" lvl="0" indent="-285750">
              <a:lnSpc>
                <a:spcPct val="150000"/>
              </a:lnSpc>
              <a:buFont typeface="Arial" panose="020B0604020202020204" pitchFamily="34" charset="0"/>
              <a:buChar char="•"/>
            </a:pPr>
            <a:r>
              <a:rPr lang="en-IN" sz="1600" dirty="0"/>
              <a:t>X. X. Zhu, D. Tuia, L. Mou, G.-S. Xia, L. Zhang, F. Xu, and F. </a:t>
            </a:r>
            <a:r>
              <a:rPr lang="en-IN" sz="1600" dirty="0" err="1"/>
              <a:t>Fraundorfer</a:t>
            </a:r>
            <a:r>
              <a:rPr lang="en-IN" sz="1600" dirty="0"/>
              <a:t>, “Deep learning in remote sensing: A comprehensive review and list of resources,” </a:t>
            </a:r>
            <a:r>
              <a:rPr lang="en-IN" sz="1600" i="1" dirty="0"/>
              <a:t>IEEE Geoscience and Remote Sensing Magazine</a:t>
            </a:r>
            <a:r>
              <a:rPr lang="en-IN" sz="1600" dirty="0"/>
              <a:t>, vol. 5, no. 4, pp. 8–36, 2017.</a:t>
            </a:r>
          </a:p>
          <a:p>
            <a:pPr marL="285750" lvl="0" indent="-285750">
              <a:lnSpc>
                <a:spcPct val="150000"/>
              </a:lnSpc>
              <a:buFont typeface="Arial" panose="020B0604020202020204" pitchFamily="34" charset="0"/>
              <a:buChar char="•"/>
            </a:pPr>
            <a:r>
              <a:rPr lang="en-US" sz="1600" dirty="0"/>
              <a:t>W. Li, G. Wu, and B. Du, “Deep learning for remote sensing image analysis: A comprehensive review,” </a:t>
            </a:r>
            <a:r>
              <a:rPr lang="en-US" sz="1600" i="1" dirty="0"/>
              <a:t>IEEE Transactions on Geoscience and Remote Sensing</a:t>
            </a:r>
            <a:r>
              <a:rPr lang="en-US" sz="1600" dirty="0"/>
              <a:t>, vol. 60, pp. 1–42, 2022</a:t>
            </a:r>
            <a:r>
              <a:rPr lang="en-IN" sz="1600" dirty="0">
                <a:latin typeface="Times New Roman" panose="02020603050405020304" pitchFamily="18" charset="0"/>
                <a:cs typeface="Times New Roman" panose="02020603050405020304" pitchFamily="18" charset="0"/>
              </a:rPr>
              <a:t>.</a:t>
            </a:r>
          </a:p>
          <a:p>
            <a:pPr marL="285750" lvl="0" indent="-285750">
              <a:lnSpc>
                <a:spcPct val="150000"/>
              </a:lnSpc>
              <a:buFont typeface="Arial" panose="020B0604020202020204" pitchFamily="34" charset="0"/>
              <a:buChar char="•"/>
            </a:pPr>
            <a:r>
              <a:rPr lang="en-US" sz="1600" dirty="0"/>
              <a:t>O. </a:t>
            </a:r>
            <a:r>
              <a:rPr lang="en-US" sz="1600" dirty="0" err="1"/>
              <a:t>Vinyals</a:t>
            </a:r>
            <a:r>
              <a:rPr lang="en-US" sz="1600" dirty="0"/>
              <a:t>, A. </a:t>
            </a:r>
            <a:r>
              <a:rPr lang="en-US" sz="1600" dirty="0" err="1"/>
              <a:t>Toshev</a:t>
            </a:r>
            <a:r>
              <a:rPr lang="en-US" sz="1600" dirty="0"/>
              <a:t>, S. Bengio, and D. Erhan, “Show and tell: A neural image caption generator,” in </a:t>
            </a:r>
            <a:r>
              <a:rPr lang="en-US" sz="1600" i="1" dirty="0"/>
              <a:t>Proceedings of the IEEE Conference on Computer Vision and Pattern Recognition (CVPR)</a:t>
            </a:r>
            <a:r>
              <a:rPr lang="en-US" sz="1600" dirty="0"/>
              <a:t>, 2015, pp. 3156–3164.</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158B-403F-B457-E4EA-02750B9DBCA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F596C82-37D7-35B8-D98F-B7B73D7E0FA2}"/>
              </a:ext>
            </a:extLst>
          </p:cNvPr>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p>
        </p:txBody>
      </p:sp>
      <p:sp>
        <p:nvSpPr>
          <p:cNvPr id="4" name="object 4">
            <a:extLst>
              <a:ext uri="{FF2B5EF4-FFF2-40B4-BE49-F238E27FC236}">
                <a16:creationId xmlns:a16="http://schemas.microsoft.com/office/drawing/2014/main" id="{55DA61EC-CAE7-A4FF-8B0B-532985DE2C5F}"/>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11-12-</a:t>
            </a:r>
            <a:r>
              <a:rPr lang="en-IN" spc="-20" dirty="0"/>
              <a:t>2025</a:t>
            </a:r>
          </a:p>
        </p:txBody>
      </p:sp>
      <p:sp>
        <p:nvSpPr>
          <p:cNvPr id="5" name="object 5">
            <a:extLst>
              <a:ext uri="{FF2B5EF4-FFF2-40B4-BE49-F238E27FC236}">
                <a16:creationId xmlns:a16="http://schemas.microsoft.com/office/drawing/2014/main" id="{EBF17FB1-43CC-85B7-13C1-4464904C801D}"/>
              </a:ext>
            </a:extLst>
          </p:cNvPr>
          <p:cNvSpPr txBox="1"/>
          <p:nvPr/>
        </p:nvSpPr>
        <p:spPr>
          <a:xfrm>
            <a:off x="4429378" y="6451049"/>
            <a:ext cx="98082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a:t>
            </a:r>
            <a:r>
              <a:rPr lang="en-IN" sz="1200" spc="-30" dirty="0">
                <a:solidFill>
                  <a:srgbClr val="888888"/>
                </a:solidFill>
                <a:latin typeface="Times New Roman"/>
                <a:cs typeface="Times New Roman"/>
              </a:rPr>
              <a:t> </a:t>
            </a:r>
            <a:r>
              <a:rPr lang="en-IN" sz="1200" spc="-25" dirty="0">
                <a:solidFill>
                  <a:srgbClr val="888888"/>
                </a:solidFill>
                <a:latin typeface="Times New Roman"/>
                <a:cs typeface="Times New Roman"/>
              </a:rPr>
              <a:t>No.1</a:t>
            </a:r>
            <a:endParaRPr lang="en-IN" sz="1200" dirty="0">
              <a:latin typeface="Times New Roman"/>
              <a:cs typeface="Times New Roman"/>
            </a:endParaRPr>
          </a:p>
        </p:txBody>
      </p:sp>
      <p:sp>
        <p:nvSpPr>
          <p:cNvPr id="6" name="object 6">
            <a:extLst>
              <a:ext uri="{FF2B5EF4-FFF2-40B4-BE49-F238E27FC236}">
                <a16:creationId xmlns:a16="http://schemas.microsoft.com/office/drawing/2014/main" id="{4B5B30E6-3923-5DB6-F16F-F6B79F054FFB}"/>
              </a:ext>
            </a:extLst>
          </p:cNvPr>
          <p:cNvSpPr txBox="1">
            <a:spLocks noGrp="1"/>
          </p:cNvSpPr>
          <p:nvPr>
            <p:ph type="ftr" sz="quarter" idx="5"/>
          </p:nvPr>
        </p:nvSpPr>
        <p:spPr>
          <a:xfrm>
            <a:off x="5505148" y="6451049"/>
            <a:ext cx="1037796" cy="179536"/>
          </a:xfrm>
          <a:prstGeom prst="rect">
            <a:avLst/>
          </a:prstGeom>
        </p:spPr>
        <p:txBody>
          <a:bodyPr vert="horz" wrap="square" lIns="0" tIns="0" rIns="0" bIns="0" rtlCol="0">
            <a:spAutoFit/>
          </a:bodyPr>
          <a:lstStyle/>
          <a:p>
            <a:pPr marL="12700">
              <a:lnSpc>
                <a:spcPts val="1410"/>
              </a:lnSpc>
            </a:pPr>
            <a:r>
              <a:rPr lang="en-IN" dirty="0"/>
              <a:t>Batch No. DB13</a:t>
            </a:r>
            <a:endParaRPr lang="en-IN" spc="-25" dirty="0"/>
          </a:p>
        </p:txBody>
      </p:sp>
      <p:sp>
        <p:nvSpPr>
          <p:cNvPr id="7" name="object 7">
            <a:extLst>
              <a:ext uri="{FF2B5EF4-FFF2-40B4-BE49-F238E27FC236}">
                <a16:creationId xmlns:a16="http://schemas.microsoft.com/office/drawing/2014/main" id="{9B4347B5-2AEF-6B81-46DF-A98FB8C9DE13}"/>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9A2DDA49-0503-F96E-AB49-184569A43882}"/>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15</a:t>
            </a:fld>
            <a:endParaRPr spc="-25" dirty="0"/>
          </a:p>
        </p:txBody>
      </p:sp>
      <p:sp>
        <p:nvSpPr>
          <p:cNvPr id="3" name="object 3">
            <a:extLst>
              <a:ext uri="{FF2B5EF4-FFF2-40B4-BE49-F238E27FC236}">
                <a16:creationId xmlns:a16="http://schemas.microsoft.com/office/drawing/2014/main" id="{21373999-F6DC-CB02-2A59-2022C5D5AACA}"/>
              </a:ext>
            </a:extLst>
          </p:cNvPr>
          <p:cNvSpPr txBox="1"/>
          <p:nvPr/>
        </p:nvSpPr>
        <p:spPr>
          <a:xfrm>
            <a:off x="1045463" y="1676400"/>
            <a:ext cx="10360025" cy="4535857"/>
          </a:xfrm>
          <a:prstGeom prst="rect">
            <a:avLst/>
          </a:prstGeom>
        </p:spPr>
        <p:txBody>
          <a:bodyPr vert="horz" wrap="square" lIns="0" tIns="16510" rIns="0" bIns="0" rtlCol="0">
            <a:spAutoFit/>
          </a:bodyPr>
          <a:lstStyle/>
          <a:p>
            <a:pPr marL="285750" lvl="0" indent="-285750">
              <a:lnSpc>
                <a:spcPct val="150000"/>
              </a:lnSpc>
              <a:buFont typeface="Arial" panose="020B0604020202020204" pitchFamily="34" charset="0"/>
              <a:buChar char="•"/>
            </a:pPr>
            <a:r>
              <a:rPr lang="en-IN" sz="1600" dirty="0"/>
              <a:t>K. Xu, J. Ba, R. Kiros, K. Cho, A. Courville, R. </a:t>
            </a:r>
            <a:r>
              <a:rPr lang="en-IN" sz="1600" dirty="0" err="1"/>
              <a:t>Salakhutdinov</a:t>
            </a:r>
            <a:r>
              <a:rPr lang="en-IN" sz="1600" dirty="0"/>
              <a:t>, R. Zemel, and Y. Bengio, “Show, attend and tell: Neural image caption generation with visual attention,” in </a:t>
            </a:r>
            <a:r>
              <a:rPr lang="en-IN" sz="1600" i="1" dirty="0"/>
              <a:t>International Conference on Machine Learning (ICML)</a:t>
            </a:r>
            <a:r>
              <a:rPr lang="en-IN" sz="1600" dirty="0"/>
              <a:t>, 2015, pp. 2048–2057.</a:t>
            </a:r>
          </a:p>
          <a:p>
            <a:pPr marL="285750" lvl="0" indent="-285750">
              <a:lnSpc>
                <a:spcPct val="150000"/>
              </a:lnSpc>
              <a:buFont typeface="Arial" panose="020B0604020202020204" pitchFamily="34" charset="0"/>
              <a:buChar char="•"/>
            </a:pPr>
            <a:r>
              <a:rPr lang="en-US" sz="1600" dirty="0"/>
              <a:t>Y. Chen, F. Yang, and L. Wang, “Domain adaptation in remote sensing image captioning,” </a:t>
            </a:r>
            <a:r>
              <a:rPr lang="en-US" sz="1600" i="1" dirty="0"/>
              <a:t>Remote Sensing</a:t>
            </a:r>
            <a:r>
              <a:rPr lang="en-US" sz="1600" dirty="0"/>
              <a:t>, vol. 12, no. 3, p. 544, 2020.</a:t>
            </a:r>
          </a:p>
          <a:p>
            <a:pPr marL="285750" lvl="0" indent="-285750">
              <a:lnSpc>
                <a:spcPct val="150000"/>
              </a:lnSpc>
              <a:buFont typeface="Arial" panose="020B0604020202020204" pitchFamily="34" charset="0"/>
              <a:buChar char="•"/>
            </a:pPr>
            <a:r>
              <a:rPr lang="en-IN" sz="1600" dirty="0"/>
              <a:t>L. Zhang, M. Wang, R. Zhao, et al., “Fusion-based captioning for enhanced image description,” </a:t>
            </a:r>
            <a:r>
              <a:rPr lang="en-IN" sz="1600" i="1" dirty="0"/>
              <a:t>IEEE Transactions on Multimedia</a:t>
            </a:r>
            <a:r>
              <a:rPr lang="en-IN" sz="1600" dirty="0"/>
              <a:t>, vol. 23, pp. 1234–1245, 2021.</a:t>
            </a:r>
          </a:p>
          <a:p>
            <a:pPr marL="285750" lvl="0" indent="-285750">
              <a:lnSpc>
                <a:spcPct val="150000"/>
              </a:lnSpc>
              <a:buFont typeface="Arial" panose="020B0604020202020204" pitchFamily="34" charset="0"/>
              <a:buChar char="•"/>
            </a:pPr>
            <a:r>
              <a:rPr lang="en-IN" sz="1600" dirty="0"/>
              <a:t>X. Huang, Y. Wang, Y. Shen, X. Qi, et al., “Kosmos-2: Grounding multimodal large language models to the world,” </a:t>
            </a:r>
            <a:r>
              <a:rPr lang="en-IN" sz="1600" i="1" dirty="0" err="1"/>
              <a:t>arXiv</a:t>
            </a:r>
            <a:r>
              <a:rPr lang="en-IN" sz="1600" i="1" dirty="0"/>
              <a:t> preprint arXiv:2306.14824</a:t>
            </a:r>
            <a:r>
              <a:rPr lang="en-IN" sz="1600" dirty="0"/>
              <a:t>, 2023. [Online]. Available: </a:t>
            </a:r>
            <a:r>
              <a:rPr lang="en-IN" sz="1600" dirty="0">
                <a:hlinkClick r:id="rId2"/>
              </a:rPr>
              <a:t>https://arxiv.org/abs/2306.14824</a:t>
            </a:r>
            <a:endParaRPr lang="en-IN" sz="1600" dirty="0"/>
          </a:p>
          <a:p>
            <a:pPr marL="285750" lvl="0" indent="-285750">
              <a:lnSpc>
                <a:spcPct val="150000"/>
              </a:lnSpc>
              <a:buFont typeface="Arial" panose="020B0604020202020204" pitchFamily="34" charset="0"/>
              <a:buChar char="•"/>
            </a:pPr>
            <a:r>
              <a:rPr lang="en-IN" sz="1600" dirty="0"/>
              <a:t>J. Li, D. Li, C. Xiong, and S. C. Hoi, “BLIP: Bootstrapped language-image pretraining for unified vision-language understanding and generation,” </a:t>
            </a:r>
            <a:r>
              <a:rPr lang="en-IN" sz="1600" i="1" dirty="0" err="1"/>
              <a:t>arXiv</a:t>
            </a:r>
            <a:r>
              <a:rPr lang="en-IN" sz="1600" i="1" dirty="0"/>
              <a:t> preprint arXiv:2201.12086</a:t>
            </a:r>
            <a:r>
              <a:rPr lang="en-IN" sz="1600" dirty="0"/>
              <a:t>, 2022. [Online]. Available: </a:t>
            </a:r>
            <a:r>
              <a:rPr lang="en-IN" sz="1600" dirty="0">
                <a:hlinkClick r:id="rId3"/>
              </a:rPr>
              <a:t>https://arxiv.org/abs/2201.12086</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6961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C1F7F-5B9F-0185-9E08-37343E561C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123C2E0-AC08-6F6E-727B-0DB303A9C25C}"/>
              </a:ext>
            </a:extLst>
          </p:cNvPr>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p>
        </p:txBody>
      </p:sp>
      <p:sp>
        <p:nvSpPr>
          <p:cNvPr id="4" name="object 4">
            <a:extLst>
              <a:ext uri="{FF2B5EF4-FFF2-40B4-BE49-F238E27FC236}">
                <a16:creationId xmlns:a16="http://schemas.microsoft.com/office/drawing/2014/main" id="{6F3653EA-13C8-4A51-6447-3382B1F3E099}"/>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11-12-</a:t>
            </a:r>
            <a:r>
              <a:rPr lang="en-IN" spc="-20" dirty="0"/>
              <a:t>2025</a:t>
            </a:r>
          </a:p>
        </p:txBody>
      </p:sp>
      <p:sp>
        <p:nvSpPr>
          <p:cNvPr id="5" name="object 5">
            <a:extLst>
              <a:ext uri="{FF2B5EF4-FFF2-40B4-BE49-F238E27FC236}">
                <a16:creationId xmlns:a16="http://schemas.microsoft.com/office/drawing/2014/main" id="{96463804-EE9D-9B5D-3D83-9FC7C6B0D69A}"/>
              </a:ext>
            </a:extLst>
          </p:cNvPr>
          <p:cNvSpPr txBox="1"/>
          <p:nvPr/>
        </p:nvSpPr>
        <p:spPr>
          <a:xfrm>
            <a:off x="4429378" y="6451049"/>
            <a:ext cx="98082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a:t>
            </a:r>
            <a:r>
              <a:rPr lang="en-IN" sz="1200" spc="-30" dirty="0">
                <a:solidFill>
                  <a:srgbClr val="888888"/>
                </a:solidFill>
                <a:latin typeface="Times New Roman"/>
                <a:cs typeface="Times New Roman"/>
              </a:rPr>
              <a:t> </a:t>
            </a:r>
            <a:r>
              <a:rPr lang="en-IN" sz="1200" spc="-25" dirty="0">
                <a:solidFill>
                  <a:srgbClr val="888888"/>
                </a:solidFill>
                <a:latin typeface="Times New Roman"/>
                <a:cs typeface="Times New Roman"/>
              </a:rPr>
              <a:t>No.1</a:t>
            </a:r>
            <a:endParaRPr lang="en-IN" sz="1200" dirty="0">
              <a:latin typeface="Times New Roman"/>
              <a:cs typeface="Times New Roman"/>
            </a:endParaRPr>
          </a:p>
        </p:txBody>
      </p:sp>
      <p:sp>
        <p:nvSpPr>
          <p:cNvPr id="6" name="object 6">
            <a:extLst>
              <a:ext uri="{FF2B5EF4-FFF2-40B4-BE49-F238E27FC236}">
                <a16:creationId xmlns:a16="http://schemas.microsoft.com/office/drawing/2014/main" id="{0C35F68F-1D99-7586-D78E-D75B245CCFB2}"/>
              </a:ext>
            </a:extLst>
          </p:cNvPr>
          <p:cNvSpPr txBox="1">
            <a:spLocks noGrp="1"/>
          </p:cNvSpPr>
          <p:nvPr>
            <p:ph type="ftr" sz="quarter" idx="5"/>
          </p:nvPr>
        </p:nvSpPr>
        <p:spPr>
          <a:xfrm>
            <a:off x="5410200" y="6451049"/>
            <a:ext cx="1075770" cy="179536"/>
          </a:xfrm>
          <a:prstGeom prst="rect">
            <a:avLst/>
          </a:prstGeom>
        </p:spPr>
        <p:txBody>
          <a:bodyPr vert="horz" wrap="square" lIns="0" tIns="0" rIns="0" bIns="0" rtlCol="0">
            <a:spAutoFit/>
          </a:bodyPr>
          <a:lstStyle/>
          <a:p>
            <a:pPr marL="12700">
              <a:lnSpc>
                <a:spcPts val="1410"/>
              </a:lnSpc>
            </a:pPr>
            <a:r>
              <a:rPr lang="en-IN" dirty="0"/>
              <a:t>Batch No. DB13</a:t>
            </a:r>
            <a:endParaRPr lang="en-IN" spc="-25" dirty="0"/>
          </a:p>
        </p:txBody>
      </p:sp>
      <p:sp>
        <p:nvSpPr>
          <p:cNvPr id="7" name="object 7">
            <a:extLst>
              <a:ext uri="{FF2B5EF4-FFF2-40B4-BE49-F238E27FC236}">
                <a16:creationId xmlns:a16="http://schemas.microsoft.com/office/drawing/2014/main" id="{8A2790F0-0C3A-3677-091F-1983CA6BD23D}"/>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D01023F4-A3B4-FCA8-844E-DC220353B802}"/>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16</a:t>
            </a:fld>
            <a:endParaRPr spc="-25" dirty="0"/>
          </a:p>
        </p:txBody>
      </p:sp>
      <p:sp>
        <p:nvSpPr>
          <p:cNvPr id="3" name="object 3">
            <a:extLst>
              <a:ext uri="{FF2B5EF4-FFF2-40B4-BE49-F238E27FC236}">
                <a16:creationId xmlns:a16="http://schemas.microsoft.com/office/drawing/2014/main" id="{B046612B-AD92-2D56-AFD2-200D7739FF85}"/>
              </a:ext>
            </a:extLst>
          </p:cNvPr>
          <p:cNvSpPr txBox="1"/>
          <p:nvPr/>
        </p:nvSpPr>
        <p:spPr>
          <a:xfrm>
            <a:off x="1219453" y="1371600"/>
            <a:ext cx="10101073" cy="4489691"/>
          </a:xfrm>
          <a:prstGeom prst="rect">
            <a:avLst/>
          </a:prstGeom>
        </p:spPr>
        <p:txBody>
          <a:bodyPr vert="horz" wrap="square" lIns="0" tIns="16510" rIns="0" bIns="0" rtlCol="0">
            <a:spAutoFit/>
          </a:bodyPr>
          <a:lstStyle/>
          <a:p>
            <a:pPr marL="285750" lvl="0" indent="-285750">
              <a:lnSpc>
                <a:spcPct val="150000"/>
              </a:lnSpc>
              <a:buFont typeface="Arial" panose="020B0604020202020204" pitchFamily="34" charset="0"/>
              <a:buChar char="•"/>
            </a:pPr>
            <a:r>
              <a:rPr lang="en-IN" sz="1600" dirty="0"/>
              <a:t>X. Chen, H. Fang, T.-Y. Lin, et al., “Microsoft COCO caption evaluation tool,” 2015. [Online]. Available: </a:t>
            </a:r>
            <a:r>
              <a:rPr lang="en-IN" sz="1600" dirty="0">
                <a:hlinkClick r:id="rId2"/>
              </a:rPr>
              <a:t>https://github.com/tylin/coco-caption</a:t>
            </a:r>
            <a:endParaRPr lang="en-IN" sz="1600" dirty="0"/>
          </a:p>
          <a:p>
            <a:pPr marL="285750" lvl="0" indent="-285750">
              <a:lnSpc>
                <a:spcPct val="150000"/>
              </a:lnSpc>
              <a:buFont typeface="Arial" panose="020B0604020202020204" pitchFamily="34" charset="0"/>
              <a:buChar char="•"/>
            </a:pPr>
            <a:r>
              <a:rPr lang="en-IN" sz="1600" dirty="0"/>
              <a:t>R. </a:t>
            </a:r>
            <a:r>
              <a:rPr lang="en-IN" sz="1600" dirty="0" err="1"/>
              <a:t>Vedantam</a:t>
            </a:r>
            <a:r>
              <a:rPr lang="en-IN" sz="1600" dirty="0"/>
              <a:t>, C. L. </a:t>
            </a:r>
            <a:r>
              <a:rPr lang="en-IN" sz="1600" dirty="0" err="1"/>
              <a:t>Zitnick</a:t>
            </a:r>
            <a:r>
              <a:rPr lang="en-IN" sz="1600" dirty="0"/>
              <a:t>, and D. Parikh, “</a:t>
            </a:r>
            <a:r>
              <a:rPr lang="en-IN" sz="1600" dirty="0" err="1"/>
              <a:t>CIDEr</a:t>
            </a:r>
            <a:r>
              <a:rPr lang="en-IN" sz="1600" dirty="0"/>
              <a:t>: Consensus-based image description evaluation,” in </a:t>
            </a:r>
            <a:r>
              <a:rPr lang="en-IN" sz="1600" i="1" dirty="0"/>
              <a:t>Proceedings of the IEEE Conference on Computer Vision and Pattern Recognition (CVPR)</a:t>
            </a:r>
            <a:r>
              <a:rPr lang="en-IN" sz="1600" dirty="0"/>
              <a:t>, 2015, pp. 4566–4575.</a:t>
            </a:r>
          </a:p>
          <a:p>
            <a:pPr marL="285750" lvl="0" indent="-285750">
              <a:lnSpc>
                <a:spcPct val="150000"/>
              </a:lnSpc>
              <a:buFont typeface="Arial" panose="020B0604020202020204" pitchFamily="34" charset="0"/>
              <a:buChar char="•"/>
            </a:pPr>
            <a:r>
              <a:rPr lang="en-US" sz="1600" dirty="0"/>
              <a:t>P. Anderson, B. Fernando, M. Johnson, and S. Gould, “SPICE: Semantic propositional image caption evaluation,” in </a:t>
            </a:r>
            <a:r>
              <a:rPr lang="en-US" sz="1600" i="1" dirty="0"/>
              <a:t>European Conference on Computer Vision (ECCV)</a:t>
            </a:r>
            <a:r>
              <a:rPr lang="en-US" sz="1600" dirty="0"/>
              <a:t>. Springer, 2016, pp. 382–398.</a:t>
            </a:r>
          </a:p>
          <a:p>
            <a:pPr marL="285750" lvl="0" indent="-285750">
              <a:lnSpc>
                <a:spcPct val="150000"/>
              </a:lnSpc>
              <a:buFont typeface="Arial" panose="020B0604020202020204" pitchFamily="34" charset="0"/>
              <a:buChar char="•"/>
            </a:pPr>
            <a:r>
              <a:rPr lang="en-IN" sz="1600" dirty="0"/>
              <a:t>X. Li, X. Yin, C. Li, X. Hu, P. Zhang, L. Zhang, L. Wang, H. Hu, L. Dong, F. Wei, et al., “OSCAR: Object-semantics aligned pre-training for vision-language tasks,” in </a:t>
            </a:r>
            <a:r>
              <a:rPr lang="en-IN" sz="1600" i="1" dirty="0"/>
              <a:t>European Conference on Computer Vision (ECCV)</a:t>
            </a:r>
            <a:r>
              <a:rPr lang="en-IN" sz="1600" dirty="0"/>
              <a:t>. Springer, 2020, pp. 121–137.</a:t>
            </a:r>
          </a:p>
          <a:p>
            <a:pPr marL="285750" lvl="0" indent="-285750">
              <a:lnSpc>
                <a:spcPct val="150000"/>
              </a:lnSpc>
              <a:buFont typeface="Arial" panose="020B0604020202020204" pitchFamily="34" charset="0"/>
              <a:buChar char="•"/>
            </a:pPr>
            <a:r>
              <a:rPr lang="en-US" sz="1600" dirty="0"/>
              <a:t>J. Han, and X. Lu, “</a:t>
            </a:r>
            <a:r>
              <a:rPr lang="en-US" sz="1600" dirty="0" err="1"/>
              <a:t>CIDEr</a:t>
            </a:r>
            <a:r>
              <a:rPr lang="en-US" sz="1600" dirty="0"/>
              <a:t>: Content-based image description evaluation,” in </a:t>
            </a:r>
            <a:r>
              <a:rPr lang="en-US" sz="1600" i="1" dirty="0"/>
              <a:t>Proceedings of the IEEE Conference on Computer Vision and Pattern Recognition (CVPR)</a:t>
            </a:r>
            <a:r>
              <a:rPr lang="en-US" sz="1600" dirty="0"/>
              <a:t>, 2015, pp. 4566–4575.</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594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6874" y="609600"/>
            <a:ext cx="10101072" cy="1200005"/>
          </a:xfrm>
          <a:prstGeom prst="rect">
            <a:avLst/>
          </a:prstGeom>
        </p:spPr>
        <p:txBody>
          <a:bodyPr vert="horz" wrap="square" lIns="0" tIns="262889" rIns="0" bIns="0" rtlCol="0">
            <a:spAutoFit/>
          </a:bodyPr>
          <a:lstStyle/>
          <a:p>
            <a:pPr marL="1635125">
              <a:lnSpc>
                <a:spcPct val="100000"/>
              </a:lnSpc>
              <a:spcBef>
                <a:spcPts val="130"/>
              </a:spcBef>
            </a:pPr>
            <a:r>
              <a:rPr dirty="0"/>
              <a:t>QUESTIONS</a:t>
            </a:r>
            <a:r>
              <a:rPr spc="-150" dirty="0"/>
              <a:t> </a:t>
            </a:r>
            <a:r>
              <a:rPr spc="-20" dirty="0"/>
              <a:t>and</a:t>
            </a:r>
            <a:r>
              <a:rPr spc="-265" dirty="0"/>
              <a:t> </a:t>
            </a:r>
            <a:r>
              <a:rPr spc="-10" dirty="0"/>
              <a:t>ANSWERS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11-12-</a:t>
            </a:r>
            <a:r>
              <a:rPr lang="en-IN" spc="-20" dirty="0"/>
              <a:t>2025</a:t>
            </a:r>
          </a:p>
        </p:txBody>
      </p:sp>
      <p:sp>
        <p:nvSpPr>
          <p:cNvPr id="5" name="object 5"/>
          <p:cNvSpPr txBox="1"/>
          <p:nvPr/>
        </p:nvSpPr>
        <p:spPr>
          <a:xfrm>
            <a:off x="4429378" y="6451049"/>
            <a:ext cx="90462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a:t>
            </a:r>
            <a:r>
              <a:rPr lang="en-IN" sz="1200" spc="-30" dirty="0">
                <a:solidFill>
                  <a:srgbClr val="888888"/>
                </a:solidFill>
                <a:latin typeface="Times New Roman"/>
                <a:cs typeface="Times New Roman"/>
              </a:rPr>
              <a:t> </a:t>
            </a:r>
            <a:r>
              <a:rPr lang="en-IN" sz="1200" spc="-25" dirty="0">
                <a:solidFill>
                  <a:srgbClr val="888888"/>
                </a:solidFill>
                <a:latin typeface="Times New Roman"/>
                <a:cs typeface="Times New Roman"/>
              </a:rPr>
              <a:t>No.1</a:t>
            </a:r>
            <a:endParaRPr lang="en-IN" sz="1200" dirty="0">
              <a:latin typeface="Times New Roman"/>
              <a:cs typeface="Times New Roman"/>
            </a:endParaRPr>
          </a:p>
        </p:txBody>
      </p:sp>
      <p:sp>
        <p:nvSpPr>
          <p:cNvPr id="6" name="object 6"/>
          <p:cNvSpPr txBox="1">
            <a:spLocks noGrp="1"/>
          </p:cNvSpPr>
          <p:nvPr>
            <p:ph type="ftr" sz="quarter" idx="5"/>
          </p:nvPr>
        </p:nvSpPr>
        <p:spPr>
          <a:xfrm>
            <a:off x="5505148" y="6451049"/>
            <a:ext cx="1037796" cy="179536"/>
          </a:xfrm>
          <a:prstGeom prst="rect">
            <a:avLst/>
          </a:prstGeom>
        </p:spPr>
        <p:txBody>
          <a:bodyPr vert="horz" wrap="square" lIns="0" tIns="0" rIns="0" bIns="0" rtlCol="0">
            <a:spAutoFit/>
          </a:bodyPr>
          <a:lstStyle/>
          <a:p>
            <a:pPr marL="12700">
              <a:lnSpc>
                <a:spcPts val="1410"/>
              </a:lnSpc>
            </a:pPr>
            <a:r>
              <a:rPr lang="en-IN" dirty="0"/>
              <a:t>Batch No. DB13</a:t>
            </a:r>
            <a:endParaRPr lang="en-IN"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17</a:t>
            </a:fld>
            <a:endParaRPr spc="-25" dirty="0"/>
          </a:p>
        </p:txBody>
      </p:sp>
      <p:sp>
        <p:nvSpPr>
          <p:cNvPr id="3" name="object 3"/>
          <p:cNvSpPr txBox="1"/>
          <p:nvPr/>
        </p:nvSpPr>
        <p:spPr>
          <a:xfrm>
            <a:off x="1905000" y="2057400"/>
            <a:ext cx="9199626" cy="4171655"/>
          </a:xfrm>
          <a:prstGeom prst="rect">
            <a:avLst/>
          </a:prstGeom>
        </p:spPr>
        <p:txBody>
          <a:bodyPr vert="horz" wrap="square" lIns="0" tIns="16510" rIns="0" bIns="0" rtlCol="0">
            <a:spAutoFit/>
          </a:bodyPr>
          <a:lstStyle/>
          <a:p>
            <a:pPr marL="355600" indent="-342900">
              <a:lnSpc>
                <a:spcPct val="150000"/>
              </a:lnSpc>
              <a:spcBef>
                <a:spcPts val="130"/>
              </a:spcBef>
              <a:buFont typeface="+mj-lt"/>
              <a:buAutoNum type="arabicPeriod"/>
              <a:tabLst>
                <a:tab pos="241300" algn="l"/>
              </a:tabLst>
            </a:pPr>
            <a:r>
              <a:rPr lang="en-US" b="1" dirty="0"/>
              <a:t>Q1:</a:t>
            </a:r>
            <a:r>
              <a:rPr lang="en-US" dirty="0"/>
              <a:t> </a:t>
            </a:r>
            <a:r>
              <a:rPr lang="en-US" b="1" dirty="0"/>
              <a:t>How does the voting-based fusion strategy improve caption accuracy?</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a:t>
            </a:r>
            <a:r>
              <a:rPr lang="en-US" dirty="0"/>
              <a:t>It selects the most semantically consistent caption among model outputs, improving accuracy and context.</a:t>
            </a:r>
            <a:endParaRPr lang="en-US" dirty="0">
              <a:latin typeface="Times New Roman" panose="02020603050405020304" pitchFamily="18" charset="0"/>
              <a:cs typeface="Times New Roman" panose="02020603050405020304" pitchFamily="18" charset="0"/>
            </a:endParaRPr>
          </a:p>
          <a:p>
            <a:pPr marL="355600" indent="-342900">
              <a:lnSpc>
                <a:spcPct val="150000"/>
              </a:lnSpc>
              <a:spcBef>
                <a:spcPts val="130"/>
              </a:spcBef>
              <a:buFont typeface="+mj-lt"/>
              <a:buAutoNum type="arabicPeriod"/>
              <a:tabLst>
                <a:tab pos="241300" algn="l"/>
              </a:tabLst>
            </a:pPr>
            <a:r>
              <a:rPr lang="en-US" b="1" dirty="0">
                <a:latin typeface="Times New Roman" panose="02020603050405020304" pitchFamily="18" charset="0"/>
                <a:cs typeface="Times New Roman" panose="02020603050405020304" pitchFamily="18" charset="0"/>
              </a:rPr>
              <a:t>Q2: </a:t>
            </a:r>
            <a:r>
              <a:rPr lang="en-US" b="1" dirty="0"/>
              <a:t>Why were BLIP and Kosmos-2 chosen for ensemble captioning?</a:t>
            </a:r>
          </a:p>
          <a:p>
            <a:pPr marL="12700">
              <a:lnSpc>
                <a:spcPct val="150000"/>
              </a:lnSpc>
              <a:spcBef>
                <a:spcPts val="130"/>
              </a:spcBef>
              <a:tabLst>
                <a:tab pos="241300" algn="l"/>
              </a:tabLst>
            </a:pPr>
            <a:r>
              <a:rPr lang="en-US" b="1" dirty="0"/>
              <a:t>	 </a:t>
            </a:r>
            <a:r>
              <a:rPr lang="en-US" dirty="0">
                <a:latin typeface="Times New Roman" panose="02020603050405020304" pitchFamily="18" charset="0"/>
                <a:cs typeface="Times New Roman" panose="02020603050405020304" pitchFamily="18" charset="0"/>
              </a:rPr>
              <a:t>A: </a:t>
            </a:r>
            <a:r>
              <a:rPr lang="en-US" dirty="0"/>
              <a:t>They are advanced vision-language models offering complementary captioning 	 	 strengths.</a:t>
            </a:r>
          </a:p>
          <a:p>
            <a:pPr marL="355600" indent="-342900">
              <a:lnSpc>
                <a:spcPct val="150000"/>
              </a:lnSpc>
              <a:spcBef>
                <a:spcPts val="130"/>
              </a:spcBef>
              <a:buAutoNum type="arabicPeriod" startAt="3"/>
              <a:tabLst>
                <a:tab pos="241300" algn="l"/>
              </a:tabLst>
            </a:pPr>
            <a:r>
              <a:rPr lang="en-US" b="1" dirty="0"/>
              <a:t>Q3: What dataset and metrics were used for evaluation?</a:t>
            </a:r>
          </a:p>
          <a:p>
            <a:pPr marL="12700">
              <a:lnSpc>
                <a:spcPct val="150000"/>
              </a:lnSpc>
              <a:spcBef>
                <a:spcPts val="130"/>
              </a:spcBef>
              <a:tabLst>
                <a:tab pos="241300" algn="l"/>
              </a:tabLst>
            </a:pPr>
            <a:r>
              <a:rPr lang="en-US" b="1" dirty="0"/>
              <a:t>	</a:t>
            </a:r>
            <a:r>
              <a:rPr lang="en-US" dirty="0"/>
              <a:t>A: The RSICD dataset was used with BLEU, METEOR, ROUGE-L, </a:t>
            </a:r>
            <a:r>
              <a:rPr lang="en-US" dirty="0" err="1"/>
              <a:t>CIDEr</a:t>
            </a:r>
            <a:r>
              <a:rPr lang="en-US" dirty="0"/>
              <a:t>, and SPICE 	metrics.</a:t>
            </a:r>
            <a:br>
              <a:rPr lang="en-US" b="1" dirty="0"/>
            </a:br>
            <a:endParaRPr lang="en-US"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33600">
              <a:lnSpc>
                <a:spcPct val="100000"/>
              </a:lnSpc>
              <a:spcBef>
                <a:spcPts val="130"/>
              </a:spcBef>
            </a:pPr>
            <a:r>
              <a:rPr spc="-10" dirty="0"/>
              <a:t>ACKNOWLEGEMENTS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11-12-</a:t>
            </a:r>
            <a:r>
              <a:rPr lang="en-IN" spc="-20" dirty="0"/>
              <a:t>2025</a:t>
            </a:r>
          </a:p>
        </p:txBody>
      </p:sp>
      <p:sp>
        <p:nvSpPr>
          <p:cNvPr id="5" name="object 5"/>
          <p:cNvSpPr txBox="1"/>
          <p:nvPr/>
        </p:nvSpPr>
        <p:spPr>
          <a:xfrm>
            <a:off x="4429378" y="6451049"/>
            <a:ext cx="82842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a:t>
            </a:r>
            <a:r>
              <a:rPr lang="en-IN" sz="1200" spc="-30" dirty="0">
                <a:solidFill>
                  <a:srgbClr val="888888"/>
                </a:solidFill>
                <a:latin typeface="Times New Roman"/>
                <a:cs typeface="Times New Roman"/>
              </a:rPr>
              <a:t> </a:t>
            </a:r>
            <a:r>
              <a:rPr lang="en-IN" sz="1200" spc="-25" dirty="0">
                <a:solidFill>
                  <a:srgbClr val="888888"/>
                </a:solidFill>
                <a:latin typeface="Times New Roman"/>
                <a:cs typeface="Times New Roman"/>
              </a:rPr>
              <a:t>No.1</a:t>
            </a:r>
            <a:endParaRPr lang="en-IN" sz="1200" dirty="0">
              <a:latin typeface="Times New Roman"/>
              <a:cs typeface="Times New Roman"/>
            </a:endParaRPr>
          </a:p>
        </p:txBody>
      </p:sp>
      <p:sp>
        <p:nvSpPr>
          <p:cNvPr id="6" name="object 6"/>
          <p:cNvSpPr txBox="1">
            <a:spLocks noGrp="1"/>
          </p:cNvSpPr>
          <p:nvPr>
            <p:ph type="ftr" sz="quarter" idx="5"/>
          </p:nvPr>
        </p:nvSpPr>
        <p:spPr>
          <a:xfrm>
            <a:off x="5505148" y="6451049"/>
            <a:ext cx="1037796" cy="179536"/>
          </a:xfrm>
          <a:prstGeom prst="rect">
            <a:avLst/>
          </a:prstGeom>
        </p:spPr>
        <p:txBody>
          <a:bodyPr vert="horz" wrap="square" lIns="0" tIns="0" rIns="0" bIns="0" rtlCol="0">
            <a:spAutoFit/>
          </a:bodyPr>
          <a:lstStyle/>
          <a:p>
            <a:pPr marL="12700">
              <a:lnSpc>
                <a:spcPts val="1410"/>
              </a:lnSpc>
            </a:pPr>
            <a:r>
              <a:rPr lang="en-IN" dirty="0"/>
              <a:t>Batch No. DB13</a:t>
            </a:r>
            <a:endParaRPr lang="en-IN"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18</a:t>
            </a:fld>
            <a:endParaRPr spc="-25" dirty="0"/>
          </a:p>
        </p:txBody>
      </p:sp>
      <p:sp>
        <p:nvSpPr>
          <p:cNvPr id="3" name="object 3"/>
          <p:cNvSpPr txBox="1"/>
          <p:nvPr/>
        </p:nvSpPr>
        <p:spPr>
          <a:xfrm>
            <a:off x="917574" y="1730872"/>
            <a:ext cx="10512425" cy="4085734"/>
          </a:xfrm>
          <a:prstGeom prst="rect">
            <a:avLst/>
          </a:prstGeom>
        </p:spPr>
        <p:txBody>
          <a:bodyPr vert="horz" wrap="square" lIns="0" tIns="99060" rIns="0" bIns="0" rtlCol="0">
            <a:spAutoFit/>
          </a:bodyPr>
          <a:lstStyle/>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Grateful to our Chairman, Sri M. V. </a:t>
            </a:r>
            <a:r>
              <a:rPr lang="en-US" b="1" dirty="0" err="1">
                <a:latin typeface="Times New Roman" panose="02020603050405020304" pitchFamily="18" charset="0"/>
                <a:cs typeface="Times New Roman" panose="02020603050405020304" pitchFamily="18" charset="0"/>
              </a:rPr>
              <a:t>Koteswara</a:t>
            </a:r>
            <a:r>
              <a:rPr lang="en-US" b="1" dirty="0">
                <a:latin typeface="Times New Roman" panose="02020603050405020304" pitchFamily="18" charset="0"/>
                <a:cs typeface="Times New Roman" panose="02020603050405020304" pitchFamily="18" charset="0"/>
              </a:rPr>
              <a:t> Rao, B.Sc.,</a:t>
            </a:r>
            <a:r>
              <a:rPr lang="en-US" dirty="0">
                <a:latin typeface="Times New Roman" panose="02020603050405020304" pitchFamily="18" charset="0"/>
                <a:cs typeface="Times New Roman" panose="02020603050405020304" pitchFamily="18" charset="0"/>
              </a:rPr>
              <a:t> for his continuous support and encouragement throughout the course.</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Thankful to our Principal, Dr. S. </a:t>
            </a:r>
            <a:r>
              <a:rPr lang="en-US" b="1" dirty="0" err="1">
                <a:latin typeface="Times New Roman" panose="02020603050405020304" pitchFamily="18" charset="0"/>
                <a:cs typeface="Times New Roman" panose="02020603050405020304" pitchFamily="18" charset="0"/>
              </a:rPr>
              <a:t>Venkateswarlu</a:t>
            </a:r>
            <a:r>
              <a:rPr lang="en-US" b="1" dirty="0">
                <a:latin typeface="Times New Roman" panose="02020603050405020304" pitchFamily="18" charset="0"/>
                <a:cs typeface="Times New Roman" panose="02020603050405020304" pitchFamily="18" charset="0"/>
              </a:rPr>
              <a:t>, Ph.D.,</a:t>
            </a:r>
            <a:r>
              <a:rPr lang="en-US" dirty="0">
                <a:latin typeface="Times New Roman" panose="02020603050405020304" pitchFamily="18" charset="0"/>
                <a:cs typeface="Times New Roman" panose="02020603050405020304" pitchFamily="18" charset="0"/>
              </a:rPr>
              <a:t> for his valuable guidance and motivation.</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Sincere thanks to Dr. S. N. Tirumala Rao, </a:t>
            </a:r>
            <a:r>
              <a:rPr lang="en-US" b="1" dirty="0" err="1">
                <a:latin typeface="Times New Roman" panose="02020603050405020304" pitchFamily="18" charset="0"/>
                <a:cs typeface="Times New Roman" panose="02020603050405020304" pitchFamily="18" charset="0"/>
              </a:rPr>
              <a:t>M.Tech</a:t>
            </a:r>
            <a:r>
              <a:rPr lang="en-US" b="1" dirty="0">
                <a:latin typeface="Times New Roman" panose="02020603050405020304" pitchFamily="18" charset="0"/>
                <a:cs typeface="Times New Roman" panose="02020603050405020304" pitchFamily="18" charset="0"/>
              </a:rPr>
              <a:t>., Ph.D., HOD of CSE,</a:t>
            </a:r>
            <a:r>
              <a:rPr lang="en-US" dirty="0">
                <a:latin typeface="Times New Roman" panose="02020603050405020304" pitchFamily="18" charset="0"/>
                <a:cs typeface="Times New Roman" panose="02020603050405020304" pitchFamily="18" charset="0"/>
              </a:rPr>
              <a:t> and our </a:t>
            </a:r>
            <a:r>
              <a:rPr lang="en-US" b="1" dirty="0">
                <a:latin typeface="Times New Roman" panose="02020603050405020304" pitchFamily="18" charset="0"/>
                <a:cs typeface="Times New Roman" panose="02020603050405020304" pitchFamily="18" charset="0"/>
              </a:rPr>
              <a:t>Guide, K. Rajani, </a:t>
            </a:r>
            <a:r>
              <a:rPr lang="en-US" b="1" dirty="0" err="1">
                <a:latin typeface="Times New Roman" panose="02020603050405020304" pitchFamily="18" charset="0"/>
                <a:cs typeface="Times New Roman" panose="02020603050405020304" pitchFamily="18" charset="0"/>
              </a:rPr>
              <a:t>M.Tech</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for their guidance and constant encouragement.</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Appreciation to Syed Rizwana, </a:t>
            </a:r>
            <a:r>
              <a:rPr lang="en-US" b="1" dirty="0" err="1">
                <a:latin typeface="Times New Roman" panose="02020603050405020304" pitchFamily="18" charset="0"/>
                <a:cs typeface="Times New Roman" panose="02020603050405020304" pitchFamily="18" charset="0"/>
              </a:rPr>
              <a:t>M.Tech</a:t>
            </a:r>
            <a:r>
              <a:rPr lang="en-US" b="1" dirty="0">
                <a:latin typeface="Times New Roman" panose="02020603050405020304" pitchFamily="18" charset="0"/>
                <a:cs typeface="Times New Roman" panose="02020603050405020304" pitchFamily="18" charset="0"/>
              </a:rPr>
              <a:t>. (Ph.D.), Assistant Professor &amp; Project Coordinator,</a:t>
            </a:r>
            <a:r>
              <a:rPr lang="en-US" dirty="0">
                <a:latin typeface="Times New Roman" panose="02020603050405020304" pitchFamily="18" charset="0"/>
                <a:cs typeface="Times New Roman" panose="02020603050405020304" pitchFamily="18" charset="0"/>
              </a:rPr>
              <a:t> for her support and inspiration.</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Heartfelt gratitude to our parents, friends, and the CSE department staff</a:t>
            </a:r>
            <a:r>
              <a:rPr lang="en-US" dirty="0">
                <a:latin typeface="Times New Roman" panose="02020603050405020304" pitchFamily="18" charset="0"/>
                <a:cs typeface="Times New Roman" panose="02020603050405020304" pitchFamily="18" charset="0"/>
              </a:rPr>
              <a:t> for their cooperation, motivation, and continuous encouragement.</a:t>
            </a:r>
          </a:p>
          <a:p>
            <a:endParaRPr lang="en-IN"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FF0FF59-E604-04AE-94B5-5AB53F009494}"/>
            </a:ext>
          </a:extLst>
        </p:cNvPr>
        <p:cNvGrpSpPr/>
        <p:nvPr/>
      </p:nvGrpSpPr>
      <p:grpSpPr>
        <a:xfrm>
          <a:off x="0" y="0"/>
          <a:ext cx="0" cy="0"/>
          <a:chOff x="0" y="0"/>
          <a:chExt cx="0" cy="0"/>
        </a:xfrm>
      </p:grpSpPr>
      <p:pic>
        <p:nvPicPr>
          <p:cNvPr id="8" name="object 8">
            <a:extLst>
              <a:ext uri="{FF2B5EF4-FFF2-40B4-BE49-F238E27FC236}">
                <a16:creationId xmlns:a16="http://schemas.microsoft.com/office/drawing/2014/main" id="{1162193E-6997-7C14-CD63-E43AC81AC38C}"/>
              </a:ext>
            </a:extLst>
          </p:cNvPr>
          <p:cNvPicPr/>
          <p:nvPr/>
        </p:nvPicPr>
        <p:blipFill>
          <a:blip r:embed="rId2" cstate="print"/>
          <a:stretch>
            <a:fillRect/>
          </a:stretch>
        </p:blipFill>
        <p:spPr>
          <a:xfrm>
            <a:off x="381000" y="381000"/>
            <a:ext cx="3648074" cy="505326"/>
          </a:xfrm>
          <a:prstGeom prst="rect">
            <a:avLst/>
          </a:prstGeom>
        </p:spPr>
      </p:pic>
      <p:sp>
        <p:nvSpPr>
          <p:cNvPr id="9" name="object 9">
            <a:extLst>
              <a:ext uri="{FF2B5EF4-FFF2-40B4-BE49-F238E27FC236}">
                <a16:creationId xmlns:a16="http://schemas.microsoft.com/office/drawing/2014/main" id="{821C2432-84FD-8A0F-4E34-AD4BCFA97947}"/>
              </a:ext>
            </a:extLst>
          </p:cNvPr>
          <p:cNvSpPr txBox="1">
            <a:spLocks noGrp="1"/>
          </p:cNvSpPr>
          <p:nvPr>
            <p:ph type="dt" sz="half" idx="6"/>
          </p:nvPr>
        </p:nvSpPr>
        <p:spPr>
          <a:xfrm>
            <a:off x="917575" y="6451049"/>
            <a:ext cx="91122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10" name="object 10">
            <a:extLst>
              <a:ext uri="{FF2B5EF4-FFF2-40B4-BE49-F238E27FC236}">
                <a16:creationId xmlns:a16="http://schemas.microsoft.com/office/drawing/2014/main" id="{76497366-0394-0D10-C7DE-3A78512CD94D}"/>
              </a:ext>
            </a:extLst>
          </p:cNvPr>
          <p:cNvSpPr txBox="1"/>
          <p:nvPr/>
        </p:nvSpPr>
        <p:spPr>
          <a:xfrm>
            <a:off x="4267200" y="6451049"/>
            <a:ext cx="911225"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lang="en-IN" sz="120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11" name="object 11">
            <a:extLst>
              <a:ext uri="{FF2B5EF4-FFF2-40B4-BE49-F238E27FC236}">
                <a16:creationId xmlns:a16="http://schemas.microsoft.com/office/drawing/2014/main" id="{6F2A21F1-7F64-B53C-AE77-5A404F3E491D}"/>
              </a:ext>
            </a:extLst>
          </p:cNvPr>
          <p:cNvSpPr txBox="1">
            <a:spLocks noGrp="1"/>
          </p:cNvSpPr>
          <p:nvPr>
            <p:ph type="ftr" sz="quarter" idx="5"/>
          </p:nvPr>
        </p:nvSpPr>
        <p:spPr>
          <a:xfrm>
            <a:off x="5505148" y="6451049"/>
            <a:ext cx="1048052" cy="179536"/>
          </a:xfrm>
          <a:prstGeom prst="rect">
            <a:avLst/>
          </a:prstGeom>
        </p:spPr>
        <p:txBody>
          <a:bodyPr vert="horz" wrap="square" lIns="0" tIns="0" rIns="0" bIns="0" rtlCol="0">
            <a:spAutoFit/>
          </a:bodyPr>
          <a:lstStyle/>
          <a:p>
            <a:pPr marL="12700">
              <a:lnSpc>
                <a:spcPts val="1410"/>
              </a:lnSpc>
            </a:pPr>
            <a:r>
              <a:rPr lang="en-IN" dirty="0"/>
              <a:t>Batch No. DB13</a:t>
            </a:r>
            <a:endParaRPr spc="-25" dirty="0"/>
          </a:p>
        </p:txBody>
      </p:sp>
      <p:sp>
        <p:nvSpPr>
          <p:cNvPr id="12" name="object 12">
            <a:extLst>
              <a:ext uri="{FF2B5EF4-FFF2-40B4-BE49-F238E27FC236}">
                <a16:creationId xmlns:a16="http://schemas.microsoft.com/office/drawing/2014/main" id="{63232B70-6E61-42F4-DA02-2B13416010D0}"/>
              </a:ext>
            </a:extLst>
          </p:cNvPr>
          <p:cNvSpPr txBox="1"/>
          <p:nvPr/>
        </p:nvSpPr>
        <p:spPr>
          <a:xfrm>
            <a:off x="7005320"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13" name="object 13">
            <a:extLst>
              <a:ext uri="{FF2B5EF4-FFF2-40B4-BE49-F238E27FC236}">
                <a16:creationId xmlns:a16="http://schemas.microsoft.com/office/drawing/2014/main" id="{40D742A9-825F-ED0D-E3CE-2F451F66B4DA}"/>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19</a:t>
            </a:fld>
            <a:endParaRPr spc="-25" dirty="0"/>
          </a:p>
        </p:txBody>
      </p:sp>
      <p:sp>
        <p:nvSpPr>
          <p:cNvPr id="15" name="TextBox 14">
            <a:extLst>
              <a:ext uri="{FF2B5EF4-FFF2-40B4-BE49-F238E27FC236}">
                <a16:creationId xmlns:a16="http://schemas.microsoft.com/office/drawing/2014/main" id="{A4271C07-ADB4-5522-86E0-D56AB5889068}"/>
              </a:ext>
            </a:extLst>
          </p:cNvPr>
          <p:cNvSpPr txBox="1"/>
          <p:nvPr/>
        </p:nvSpPr>
        <p:spPr>
          <a:xfrm>
            <a:off x="2971800" y="1981200"/>
            <a:ext cx="7391400" cy="1323439"/>
          </a:xfrm>
          <a:prstGeom prst="rect">
            <a:avLst/>
          </a:prstGeom>
          <a:noFill/>
        </p:spPr>
        <p:txBody>
          <a:bodyPr wrap="square" rtlCol="0">
            <a:spAutoFit/>
          </a:bodyPr>
          <a:lstStyle/>
          <a:p>
            <a:r>
              <a:rPr lang="en-IN" sz="8000" dirty="0">
                <a:latin typeface="Berlin Sans FB Demi" panose="020E0802020502020306" pitchFamily="34" charset="0"/>
              </a:rPr>
              <a:t>THANK YOU</a:t>
            </a:r>
          </a:p>
        </p:txBody>
      </p:sp>
      <p:sp>
        <p:nvSpPr>
          <p:cNvPr id="16" name="TextBox 15">
            <a:extLst>
              <a:ext uri="{FF2B5EF4-FFF2-40B4-BE49-F238E27FC236}">
                <a16:creationId xmlns:a16="http://schemas.microsoft.com/office/drawing/2014/main" id="{367E7EF9-D87F-BA8D-EF13-1B4D55950AF4}"/>
              </a:ext>
            </a:extLst>
          </p:cNvPr>
          <p:cNvSpPr txBox="1"/>
          <p:nvPr/>
        </p:nvSpPr>
        <p:spPr>
          <a:xfrm>
            <a:off x="7315200" y="4038600"/>
            <a:ext cx="4343400" cy="923330"/>
          </a:xfrm>
          <a:prstGeom prst="rect">
            <a:avLst/>
          </a:prstGeom>
          <a:noFill/>
        </p:spPr>
        <p:txBody>
          <a:bodyPr wrap="square" rtlCol="0">
            <a:spAutoFit/>
          </a:bodyPr>
          <a:lstStyle/>
          <a:p>
            <a:pPr algn="ctr"/>
            <a:r>
              <a:rPr lang="en-IN" dirty="0"/>
              <a:t>Contact:</a:t>
            </a:r>
          </a:p>
          <a:p>
            <a:pPr algn="ctr"/>
            <a:endParaRPr lang="en-IN" dirty="0"/>
          </a:p>
          <a:p>
            <a:pPr algn="ctr"/>
            <a:r>
              <a:rPr lang="en-IN" dirty="0"/>
              <a:t>jadamsuryateja@gmamil.com</a:t>
            </a:r>
          </a:p>
        </p:txBody>
      </p:sp>
    </p:spTree>
    <p:extLst>
      <p:ext uri="{BB962C8B-B14F-4D97-AF65-F5344CB8AC3E}">
        <p14:creationId xmlns:p14="http://schemas.microsoft.com/office/powerpoint/2010/main" val="3561154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355</TotalTime>
  <Words>2608</Words>
  <Application>Microsoft Office PowerPoint</Application>
  <PresentationFormat>Widescreen</PresentationFormat>
  <Paragraphs>241</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Arial MT</vt:lpstr>
      <vt:lpstr>Berlin Sans FB Demi</vt:lpstr>
      <vt:lpstr>Calibri</vt:lpstr>
      <vt:lpstr>Times New Roman</vt:lpstr>
      <vt:lpstr>Office Theme</vt:lpstr>
      <vt:lpstr>Department of Computer Science and Engineering</vt:lpstr>
      <vt:lpstr>ABSTRACT </vt:lpstr>
      <vt:lpstr>INTRODUCTION</vt:lpstr>
      <vt:lpstr>LITERATURE SURVEY</vt:lpstr>
      <vt:lpstr>LITERATURE SURVEY</vt:lpstr>
      <vt:lpstr>PROBLEM STATEMENT</vt:lpstr>
      <vt:lpstr>OBJECTIVES</vt:lpstr>
      <vt:lpstr>BLOCK DIAGRAM OR FLOW DIAGRAM</vt:lpstr>
      <vt:lpstr>METHODOLOGY</vt:lpstr>
      <vt:lpstr>IMPLEMENTATION</vt:lpstr>
      <vt:lpstr>PowerPoint Presentation</vt:lpstr>
      <vt:lpstr>RESULTS &amp; ANALYSIS</vt:lpstr>
      <vt:lpstr>CONCLUSION and FUTURE SCOPE</vt:lpstr>
      <vt:lpstr>REFERENCES</vt:lpstr>
      <vt:lpstr>REFERENCES</vt:lpstr>
      <vt:lpstr>REFERENCES</vt:lpstr>
      <vt:lpstr>QUESTIONS and ANSWERS</vt:lpstr>
      <vt:lpstr>ACKNOWLEGEMENTS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Chaitanya Y</dc:creator>
  <cp:lastModifiedBy>jadam surya</cp:lastModifiedBy>
  <cp:revision>10</cp:revision>
  <dcterms:created xsi:type="dcterms:W3CDTF">2025-11-08T10:38:02Z</dcterms:created>
  <dcterms:modified xsi:type="dcterms:W3CDTF">2025-11-11T08:43:52Z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2024-12-19T00:00:00Z</vt:filetime>
  </property>
  <property fmtid="{D5CDD505-2E9C-101B-9397-08002B2CF9AE}" pid="3" name="LastSaved">
    <vt:filetime>2025-11-08T00:00:00Z</vt:filetime>
  </property>
</Properties>
</file>